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41"/>
  </p:notesMasterIdLst>
  <p:sldIdLst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ru-RU"/>
    </a:defPPr>
    <a:lvl1pPr marL="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tableStyles" Target="tableStyles.xml"/><Relationship Id="rId44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812951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76178070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A401BA-3150-4FF7-8D13-C8A64268AC63}" type="datetimeFigureOut">
              <a:rPr lang="ru-RU"/>
              <a:t>14.09.2026</a:t>
            </a:fld>
            <a:endParaRPr lang="ru-RU"/>
          </a:p>
        </p:txBody>
      </p:sp>
      <p:sp>
        <p:nvSpPr>
          <p:cNvPr id="1008376219" name="Образ слайда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657332147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161909993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32077215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5F3B14-7AC8-406F-A299-37D374056E4F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4A0333-DA6B-BAA6-F9EA-5D8AC4D62B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9B8682-549C-E1BB-F508-D1525C1FC7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444576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2661015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0362608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9</a:t>
            </a:fld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542127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156749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5942801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10</a:t>
            </a:fld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299260-C65D-4A5C-3C37-B22449FEC14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Титульный слайд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682889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880295750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401620835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602869623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076004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166635619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22378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t>16.09.2026</a:t>
            </a:fld>
            <a:endParaRPr lang="ru-RU"/>
          </a:p>
        </p:txBody>
      </p:sp>
      <p:sp>
        <p:nvSpPr>
          <p:cNvPr id="104878655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9380906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4</a:t>
            </a:fld>
            <a:endParaRPr lang="ru-RU"/>
          </a:p>
        </p:txBody>
      </p:sp>
      <p:sp>
        <p:nvSpPr>
          <p:cNvPr id="192736678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1795973529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913937985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1548332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2000063644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660029963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5602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  <a:t>16.09.2026</a:t>
            </a:fld>
            <a:endParaRPr lang="ru-RU"/>
          </a:p>
        </p:txBody>
      </p:sp>
      <p:sp>
        <p:nvSpPr>
          <p:cNvPr id="11232564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0745183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5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669326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1237116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t>16.09.2026</a:t>
            </a:fld>
            <a:endParaRPr lang="ru-RU"/>
          </a:p>
        </p:txBody>
      </p:sp>
      <p:sp>
        <p:nvSpPr>
          <p:cNvPr id="185866539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1058281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454463469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536032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4292606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89770961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  <a:t>16.09.2026</a:t>
            </a:fld>
            <a:endParaRPr lang="ru-RU"/>
          </a:p>
        </p:txBody>
      </p:sp>
      <p:sp>
        <p:nvSpPr>
          <p:cNvPr id="121339198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3777490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91928755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555898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7223496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731636676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91712141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2805432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  <a:t>16.09.2026</a:t>
            </a:fld>
            <a:endParaRPr lang="ru-RU"/>
          </a:p>
        </p:txBody>
      </p:sp>
      <p:sp>
        <p:nvSpPr>
          <p:cNvPr id="657734324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41445009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291046477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12139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  <a:t>16.09.2026</a:t>
            </a:fld>
            <a:endParaRPr lang="ru-RU"/>
          </a:p>
        </p:txBody>
      </p:sp>
      <p:sp>
        <p:nvSpPr>
          <p:cNvPr id="14842797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8618675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85011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75281028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96366570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611987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  <a:t>16.09.2026</a:t>
            </a:fld>
            <a:endParaRPr lang="ru-RU"/>
          </a:p>
        </p:txBody>
      </p:sp>
      <p:sp>
        <p:nvSpPr>
          <p:cNvPr id="155615248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1458955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01652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  <a:t>16.09.2026</a:t>
            </a:fld>
            <a:endParaRPr lang="ru-RU"/>
          </a:p>
        </p:txBody>
      </p:sp>
      <p:sp>
        <p:nvSpPr>
          <p:cNvPr id="2075348248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19872225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6834576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27087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t>16.09.2026</a:t>
            </a:fld>
            <a:endParaRPr lang="ru-RU"/>
          </a:p>
        </p:txBody>
      </p:sp>
      <p:sp>
        <p:nvSpPr>
          <p:cNvPr id="195041990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00584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792380901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874422937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94822356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69095115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530970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926454970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069797757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635738940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476364177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458554842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611309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680188690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957727187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89925399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256972101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1208148889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684210003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12519466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1969617493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0847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  <a:t>16.09.2026</a:t>
            </a:fld>
            <a:endParaRPr lang="ru-RU"/>
          </a:p>
        </p:txBody>
      </p:sp>
      <p:sp>
        <p:nvSpPr>
          <p:cNvPr id="208819332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757589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177865552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39753479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67254588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01935067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20516688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25329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t>16.09.2026</a:t>
            </a:fld>
            <a:endParaRPr lang="ru-RU"/>
          </a:p>
        </p:txBody>
      </p:sp>
      <p:sp>
        <p:nvSpPr>
          <p:cNvPr id="149572482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84074013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103893195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808292524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31151279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8998086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709136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39403092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5408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t>16.09.2026</a:t>
            </a:fld>
            <a:endParaRPr lang="ru-RU"/>
          </a:p>
        </p:txBody>
      </p:sp>
      <p:sp>
        <p:nvSpPr>
          <p:cNvPr id="15107933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5229932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337256866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68929240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3888215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18155805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3972428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6472058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2275498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58109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  <a:t>16.09.2026</a:t>
            </a:fld>
            <a:endParaRPr lang="ru-RU"/>
          </a:p>
        </p:txBody>
      </p:sp>
      <p:sp>
        <p:nvSpPr>
          <p:cNvPr id="45079419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0081529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597326524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9114585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476688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3066030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99164481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60248213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652764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69505246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6930435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66927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  <a:t>16.09.2026</a:t>
            </a:fld>
            <a:endParaRPr lang="ru-RU"/>
          </a:p>
        </p:txBody>
      </p:sp>
      <p:sp>
        <p:nvSpPr>
          <p:cNvPr id="34375558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715226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245142924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32442884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91519423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8792073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82414852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54076117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6283262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6192035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54626048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849858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t>16.09.2026</a:t>
            </a:fld>
            <a:endParaRPr lang="ru-RU"/>
          </a:p>
        </p:txBody>
      </p:sp>
      <p:sp>
        <p:nvSpPr>
          <p:cNvPr id="144845255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3310992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124927468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1322562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240833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76004260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77609924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710853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49188184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8968598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95903953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0288170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55163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57983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t>16.09.2026</a:t>
            </a:fld>
            <a:endParaRPr lang="ru-RU"/>
          </a:p>
        </p:txBody>
      </p:sp>
      <p:sp>
        <p:nvSpPr>
          <p:cNvPr id="167580533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1433720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560885061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22197277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/>
          </a:p>
        </p:txBody>
      </p:sp>
      <p:sp>
        <p:nvSpPr>
          <p:cNvPr id="116118850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1428729295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/>
          </a:p>
        </p:txBody>
      </p:sp>
      <p:sp>
        <p:nvSpPr>
          <p:cNvPr id="856443119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1922520453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/>
          </a:p>
        </p:txBody>
      </p:sp>
      <p:sp>
        <p:nvSpPr>
          <p:cNvPr id="1034779806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08616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89648991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  <a:t>16.09.2026</a:t>
            </a:fld>
            <a:endParaRPr lang="ru-RU"/>
          </a:p>
        </p:txBody>
      </p:sp>
      <p:sp>
        <p:nvSpPr>
          <p:cNvPr id="37812774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3889069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34715051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21024583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20280167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04478788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235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t>16.09.2026</a:t>
            </a:fld>
            <a:endParaRPr lang="ru-RU"/>
          </a:p>
        </p:txBody>
      </p:sp>
      <p:sp>
        <p:nvSpPr>
          <p:cNvPr id="11471699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3036871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259102376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3639810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722443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25584501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823724485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624748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90666637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6197673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9067376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78948986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5861159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45328777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0255233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087965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589614520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1545724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625227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7509977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1619468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18129555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  <a:t>16.09.2026</a:t>
            </a:fld>
            <a:endParaRPr lang="ru-RU"/>
          </a:p>
        </p:txBody>
      </p:sp>
      <p:sp>
        <p:nvSpPr>
          <p:cNvPr id="2139654067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87854632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939360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580386608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99003789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668171859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93250523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  <a:t>16.09.2026</a:t>
            </a:fld>
            <a:endParaRPr lang="ru-RU"/>
          </a:p>
        </p:txBody>
      </p:sp>
      <p:sp>
        <p:nvSpPr>
          <p:cNvPr id="79260098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5050469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64420842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56314850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54257058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0252769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2672160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 rotWithShape="1">
          <a:blip r:embed="rId25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097445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03902632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1779235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>16.09.2026</a:t>
            </a:fld>
            <a:endParaRPr lang="ru-RU"/>
          </a:p>
        </p:txBody>
      </p:sp>
      <p:sp>
        <p:nvSpPr>
          <p:cNvPr id="192607067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8248768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 sldNum="1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99916" name="Заголовок 2"/>
          <p:cNvSpPr>
            <a:spLocks noGrp="1"/>
          </p:cNvSpPr>
          <p:nvPr>
            <p:ph type="ctrTitle"/>
          </p:nvPr>
        </p:nvSpPr>
        <p:spPr bwMode="auto">
          <a:xfrm>
            <a:off x="1" y="3894513"/>
            <a:ext cx="6271845" cy="1706743"/>
          </a:xfrm>
        </p:spPr>
        <p:txBody>
          <a:bodyPr/>
          <a:lstStyle/>
          <a:p>
            <a:pPr marL="268288" indent="0">
              <a:defRPr/>
            </a:pPr>
            <a:r>
              <a:t>FSP Talent Market</a:t>
            </a:r>
            <a:endParaRPr lang="ru-RU" sz="4800"/>
          </a:p>
        </p:txBody>
      </p:sp>
      <p:sp>
        <p:nvSpPr>
          <p:cNvPr id="1636791008" name="Рисунок 3"/>
          <p:cNvSpPr>
            <a:spLocks noGrp="1"/>
          </p:cNvSpPr>
          <p:nvPr>
            <p:ph type="pic" sz="quarter" idx="11"/>
          </p:nvPr>
        </p:nvSpPr>
        <p:spPr bwMode="auto">
          <a:xfrm>
            <a:off x="305186" y="329801"/>
            <a:ext cx="5193299" cy="1082589"/>
          </a:xfrm>
        </p:spPr>
      </p:sp>
      <p:sp>
        <p:nvSpPr>
          <p:cNvPr id="757351073" name="Текст 4"/>
          <p:cNvSpPr>
            <a:spLocks noGrp="1"/>
          </p:cNvSpPr>
          <p:nvPr>
            <p:ph type="body" sz="quarter" idx="12"/>
          </p:nvPr>
        </p:nvSpPr>
        <p:spPr bwMode="auto">
          <a:xfrm>
            <a:off x="0" y="5659501"/>
            <a:ext cx="8930641" cy="757174"/>
          </a:xfrm>
        </p:spPr>
        <p:txBody>
          <a:bodyPr anchor="ctr"/>
          <a:lstStyle/>
          <a:p>
            <a:pPr indent="268288">
              <a:defRPr/>
            </a:pPr>
            <a:r>
              <a:t>Обратный рекрутинг для IT: подтверждённый грейд кандидата, объяснимый подбор и командная совместимость</a:t>
            </a:r>
            <a:endParaRPr lang="ru-RU"/>
          </a:p>
        </p:txBody>
      </p:sp>
      <p:sp>
        <p:nvSpPr>
          <p:cNvPr id="1091804844" name="Скругленный прямоугольник 1"/>
          <p:cNvSpPr/>
          <p:nvPr/>
        </p:nvSpPr>
        <p:spPr bwMode="auto"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098921" name="Прямоугольник 2"/>
          <p:cNvSpPr/>
          <p:nvPr/>
        </p:nvSpPr>
        <p:spPr bwMode="auto"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/>
          </a:p>
        </p:txBody>
      </p:sp>
      <p:sp>
        <p:nvSpPr>
          <p:cNvPr id="1609484257" name="Рисунок 1"/>
          <p:cNvSpPr>
            <a:spLocks noGrp="1"/>
          </p:cNvSpPr>
          <p:nvPr>
            <p:ph type="pic" sz="quarter" idx="10"/>
          </p:nvPr>
        </p:nvSpPr>
        <p:spPr bwMode="auto">
          <a:xfrm>
            <a:off x="0" y="335267"/>
            <a:ext cx="6456363" cy="2971784"/>
          </a:xfrm>
        </p:spPr>
        <p:txBody>
          <a:bodyPr/>
          <a:p/>
        </p:txBody>
      </p:sp>
      <p:sp>
        <p:nvSpPr>
          <p:cNvPr id="1143600250" name="Текст 8"/>
          <p:cNvSpPr txBox="1"/>
          <p:nvPr/>
        </p:nvSpPr>
        <p:spPr bwMode="auto"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Краткое описание решения:</a:t>
            </a:r>
            <a:endParaRPr/>
          </a:p>
        </p:txBody>
      </p:sp>
      <p:sp>
        <p:nvSpPr>
          <p:cNvPr id="441518184" name="Текст 8"/>
          <p:cNvSpPr txBox="1"/>
          <p:nvPr/>
        </p:nvSpPr>
        <p:spPr bwMode="auto"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>
                <a:solidFill>
                  <a:schemeClr val="tx1"/>
                </a:solidFill>
              </a:rPr>
              <a:t>Работодатель ищет не резюме, а кандидата под конкретную потребность. Грейд подтверждается заданиями и данными ФСП, подбор объясняет «почему подходит» и «чего не хватает», контакты открываются только после согласия кандидата.</a:t>
            </a:r>
            <a:endParaRPr/>
          </a:p>
        </p:txBody>
      </p:sp>
      <p:sp>
        <p:nvSpPr>
          <p:cNvPr id="661119785" name="Текст 8"/>
          <p:cNvSpPr txBox="1"/>
          <p:nvPr/>
        </p:nvSpPr>
        <p:spPr bwMode="auto"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Капитан: [заполнить: ФИО, специальность]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Кол-во участников: [заполнить]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Команда: [заполнить]</a:t>
            </a:r>
            <a:endParaRPr/>
          </a:p>
        </p:txBody>
      </p:sp>
      <p:sp>
        <p:nvSpPr>
          <p:cNvPr id="648121520" name="Текст 8"/>
          <p:cNvSpPr txBox="1"/>
          <p:nvPr/>
        </p:nvSpPr>
        <p:spPr bwMode="auto"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О команде</a:t>
            </a:r>
            <a:endParaRPr/>
          </a:p>
        </p:txBody>
      </p:sp>
      <p:sp>
        <p:nvSpPr>
          <p:cNvPr id="328740113" name="Заголовок 6"/>
          <p:cNvSpPr>
            <a:spLocks noGrp="1"/>
          </p:cNvSpPr>
          <p:nvPr>
            <p:ph type="title"/>
          </p:nvPr>
        </p:nvSpPr>
        <p:spPr bwMode="auto">
          <a:xfrm>
            <a:off x="6819903" y="1039236"/>
            <a:ext cx="3636703" cy="1015128"/>
          </a:xfrm>
        </p:spPr>
        <p:txBody>
          <a:bodyPr/>
          <a:lstStyle/>
          <a:p>
            <a:pPr>
              <a:defRPr/>
            </a:pPr>
            <a:endParaRPr lang="ru-RU" sz="2400">
              <a:solidFill>
                <a:schemeClr val="accent5"/>
              </a:solidFill>
              <a:latin typeface="Montserrat"/>
            </a:endParaRPr>
          </a:p>
        </p:txBody>
      </p:sp>
      <p:cxnSp>
        <p:nvCxnSpPr>
          <p:cNvPr id="1478954076" name="Прямая соединительная линия 6"/>
          <p:cNvCxnSpPr/>
          <p:nvPr/>
        </p:nvCxnSpPr>
        <p:spPr bwMode="auto"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16552124" name="Прямая соединительная линия 15"/>
          <p:cNvCxnSpPr/>
          <p:nvPr/>
        </p:nvCxnSpPr>
        <p:spPr bwMode="auto"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1184900" name="Прямая соединительная линия 16"/>
          <p:cNvCxnSpPr/>
          <p:nvPr/>
        </p:nvCxnSpPr>
        <p:spPr bwMode="auto"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03619342" name="Текст 8"/>
          <p:cNvSpPr txBox="1"/>
          <p:nvPr/>
        </p:nvSpPr>
        <p:spPr bwMode="auto"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Уникальность решения:</a:t>
            </a:r>
            <a:endParaRPr/>
          </a:p>
        </p:txBody>
      </p:sp>
      <p:sp>
        <p:nvSpPr>
          <p:cNvPr id="1075761414" name="Текст 8"/>
          <p:cNvSpPr txBox="1"/>
          <p:nvPr/>
        </p:nvSpPr>
        <p:spPr bwMode="auto"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>
                <a:solidFill>
                  <a:schemeClr val="tx1"/>
                </a:solidFill>
              </a:rPr>
              <a:t>Платформа: кандидат проходит проверку по специализации (3 грейда × 3 подуровня), работодатель получает ранжированный пул с Requirement Fit, WHY/GAPS и учётом командной совместимости.</a:t>
            </a:r>
            <a:endParaRPr/>
          </a:p>
        </p:txBody>
      </p:sp>
      <p:sp>
        <p:nvSpPr>
          <p:cNvPr id="2108767591" name="Номер слайда 35"/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accent5"/>
                </a:solidFill>
              </a:rPr>
              <a:t>8</a:t>
            </a:fld>
            <a:endParaRPr lang="ru-RU" sz="1200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445992" name="Скругленный прямоугольник 55"/>
          <p:cNvSpPr/>
          <p:nvPr/>
        </p:nvSpPr>
        <p:spPr bwMode="auto">
          <a:xfrm>
            <a:off x="2651394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90223453" name="Текст 8"/>
          <p:cNvSpPr txBox="1"/>
          <p:nvPr/>
        </p:nvSpPr>
        <p:spPr bwMode="auto"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259743807" name="Текст 8"/>
          <p:cNvSpPr txBox="1"/>
          <p:nvPr/>
        </p:nvSpPr>
        <p:spPr bwMode="auto"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Имя Фамилия</a:t>
            </a:r>
            <a:endParaRPr/>
          </a:p>
        </p:txBody>
      </p:sp>
      <p:sp>
        <p:nvSpPr>
          <p:cNvPr id="1717745144" name="Скругленный прямоугольник 58"/>
          <p:cNvSpPr/>
          <p:nvPr/>
        </p:nvSpPr>
        <p:spPr bwMode="auto">
          <a:xfrm>
            <a:off x="4956712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767261468" name="Текст 8"/>
          <p:cNvSpPr txBox="1"/>
          <p:nvPr/>
        </p:nvSpPr>
        <p:spPr bwMode="auto"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789313918" name="Текст 8"/>
          <p:cNvSpPr txBox="1"/>
          <p:nvPr/>
        </p:nvSpPr>
        <p:spPr bwMode="auto"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Имя Фамилия</a:t>
            </a:r>
            <a:endParaRPr/>
          </a:p>
        </p:txBody>
      </p:sp>
      <p:sp>
        <p:nvSpPr>
          <p:cNvPr id="651037677" name="Скругленный прямоугольник 61"/>
          <p:cNvSpPr/>
          <p:nvPr/>
        </p:nvSpPr>
        <p:spPr bwMode="auto">
          <a:xfrm>
            <a:off x="7262031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499875170" name="Текст 8"/>
          <p:cNvSpPr txBox="1"/>
          <p:nvPr/>
        </p:nvSpPr>
        <p:spPr bwMode="auto">
          <a:xfrm>
            <a:off x="743431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54387886" name="Текст 8"/>
          <p:cNvSpPr txBox="1"/>
          <p:nvPr/>
        </p:nvSpPr>
        <p:spPr bwMode="auto">
          <a:xfrm>
            <a:off x="74343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Имя Фамилия</a:t>
            </a:r>
            <a:endParaRPr/>
          </a:p>
        </p:txBody>
      </p:sp>
      <p:sp>
        <p:nvSpPr>
          <p:cNvPr id="2086725175" name="Скругленный прямоугольник 64"/>
          <p:cNvSpPr/>
          <p:nvPr/>
        </p:nvSpPr>
        <p:spPr bwMode="auto">
          <a:xfrm>
            <a:off x="9567349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106280066" name="Текст 8"/>
          <p:cNvSpPr txBox="1"/>
          <p:nvPr/>
        </p:nvSpPr>
        <p:spPr bwMode="auto">
          <a:xfrm>
            <a:off x="9739633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456275104" name="Текст 8"/>
          <p:cNvSpPr txBox="1"/>
          <p:nvPr/>
        </p:nvSpPr>
        <p:spPr bwMode="auto">
          <a:xfrm>
            <a:off x="9739632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Имя Фамилия</a:t>
            </a:r>
            <a:endParaRPr/>
          </a:p>
        </p:txBody>
      </p:sp>
      <p:sp>
        <p:nvSpPr>
          <p:cNvPr id="481545546" name="Скругленный прямоугольник 16"/>
          <p:cNvSpPr/>
          <p:nvPr/>
        </p:nvSpPr>
        <p:spPr bwMode="auto">
          <a:xfrm>
            <a:off x="346076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662366709" name="Скругленный прямоугольник 12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93695819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9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172799835" name="Рисунок 1"/>
          <p:cNvSpPr>
            <a:spLocks noGrp="1"/>
          </p:cNvSpPr>
          <p:nvPr>
            <p:ph type="pic" sz="quarter" idx="4294967295"/>
          </p:nvPr>
        </p:nvSpPr>
        <p:spPr bwMode="auto">
          <a:xfrm>
            <a:off x="581397" y="1816054"/>
            <a:ext cx="1722566" cy="1552901"/>
          </a:xfrm>
        </p:spPr>
      </p:sp>
      <p:sp>
        <p:nvSpPr>
          <p:cNvPr id="288949743" name="Рисунок 2"/>
          <p:cNvSpPr>
            <a:spLocks noGrp="1"/>
          </p:cNvSpPr>
          <p:nvPr>
            <p:ph type="pic" sz="quarter" idx="4294967295"/>
          </p:nvPr>
        </p:nvSpPr>
        <p:spPr bwMode="auto">
          <a:xfrm>
            <a:off x="2886467" y="1826554"/>
            <a:ext cx="1722566" cy="1542401"/>
          </a:xfrm>
        </p:spPr>
      </p:sp>
      <p:sp>
        <p:nvSpPr>
          <p:cNvPr id="368022300" name="Рисунок 3"/>
          <p:cNvSpPr>
            <a:spLocks noGrp="1"/>
          </p:cNvSpPr>
          <p:nvPr>
            <p:ph type="pic" sz="quarter" idx="4294967295"/>
          </p:nvPr>
        </p:nvSpPr>
        <p:spPr bwMode="auto">
          <a:xfrm>
            <a:off x="5191784" y="1809238"/>
            <a:ext cx="1722567" cy="1559717"/>
          </a:xfrm>
        </p:spPr>
      </p:sp>
      <p:sp>
        <p:nvSpPr>
          <p:cNvPr id="213007835" name="Рисунок 4"/>
          <p:cNvSpPr>
            <a:spLocks noGrp="1"/>
          </p:cNvSpPr>
          <p:nvPr>
            <p:ph type="pic" sz="quarter" idx="4294967295"/>
          </p:nvPr>
        </p:nvSpPr>
        <p:spPr bwMode="auto">
          <a:xfrm>
            <a:off x="7520208" y="1809238"/>
            <a:ext cx="1722567" cy="1559717"/>
          </a:xfrm>
        </p:spPr>
      </p:sp>
      <p:sp>
        <p:nvSpPr>
          <p:cNvPr id="1344225912" name="Рисунок 5"/>
          <p:cNvSpPr>
            <a:spLocks noGrp="1"/>
          </p:cNvSpPr>
          <p:nvPr>
            <p:ph type="pic" sz="quarter" idx="4294967295"/>
          </p:nvPr>
        </p:nvSpPr>
        <p:spPr bwMode="auto">
          <a:xfrm>
            <a:off x="9802422" y="1809238"/>
            <a:ext cx="1722566" cy="1559717"/>
          </a:xfrm>
        </p:spPr>
      </p:sp>
      <p:sp>
        <p:nvSpPr>
          <p:cNvPr id="415042907" name="Заголовок 6"/>
          <p:cNvSpPr>
            <a:spLocks noGrp="1"/>
          </p:cNvSpPr>
          <p:nvPr>
            <p:ph type="title"/>
          </p:nvPr>
        </p:nvSpPr>
        <p:spPr bwMode="auto">
          <a:xfrm>
            <a:off x="518359" y="449787"/>
            <a:ext cx="9862734" cy="376138"/>
          </a:xfrm>
        </p:spPr>
        <p:txBody>
          <a:bodyPr/>
          <a:lstStyle/>
          <a:p>
            <a:pPr>
              <a:defRPr/>
            </a:pPr>
            <a:endParaRPr lang="ru-RU">
              <a:latin typeface="Montserrat"/>
            </a:endParaRPr>
          </a:p>
        </p:txBody>
      </p:sp>
      <p:sp>
        <p:nvSpPr>
          <p:cNvPr id="105846267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  <a:endParaRPr/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  <a:endParaRPr/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  <a:endParaRPr/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/>
          </a:p>
        </p:txBody>
      </p:sp>
      <p:sp>
        <p:nvSpPr>
          <p:cNvPr id="1278750663" name="Текст 8"/>
          <p:cNvSpPr txBox="1"/>
          <p:nvPr/>
        </p:nvSpPr>
        <p:spPr bwMode="auto"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Имя Фамилия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463204" name="Скругленный прямоугольник 1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240408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10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865297653" name="Заголовок 6"/>
          <p:cNvSpPr>
            <a:spLocks noGrp="1"/>
          </p:cNvSpPr>
          <p:nvPr>
            <p:ph type="title"/>
          </p:nvPr>
        </p:nvSpPr>
        <p:spPr bwMode="auto">
          <a:xfrm>
            <a:off x="507849" y="449787"/>
            <a:ext cx="9862734" cy="376138"/>
          </a:xfrm>
        </p:spPr>
        <p:txBody>
          <a:bodyPr/>
          <a:lstStyle/>
          <a:p>
            <a:pPr>
              <a:defRPr/>
            </a:pPr>
            <a:endParaRPr lang="ru-RU">
              <a:latin typeface="Montserrat"/>
            </a:endParaRPr>
          </a:p>
        </p:txBody>
      </p:sp>
      <p:sp>
        <p:nvSpPr>
          <p:cNvPr id="158889012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[заполнить командой: история команды]</a:t>
            </a:r>
            <a:endParaRPr/>
          </a:p>
        </p:txBody>
      </p:sp>
      <p:sp>
        <p:nvSpPr>
          <p:cNvPr id="493921390" name="Текст 8"/>
          <p:cNvSpPr txBox="1"/>
          <p:nvPr/>
        </p:nvSpPr>
        <p:spPr bwMode="auto"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Краткая история команды:</a:t>
            </a:r>
            <a:endParaRPr/>
          </a:p>
        </p:txBody>
      </p:sp>
      <p:sp>
        <p:nvSpPr>
          <p:cNvPr id="243118211" name="Текст 8"/>
          <p:cNvSpPr txBox="1"/>
          <p:nvPr/>
        </p:nvSpPr>
        <p:spPr bwMode="auto"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Ключевой вызов: не выдавать недостоверные цифры. Ввели состояние «Недостаточно данных» вместо ложных 0%, а контакты и ответы сотрудников скрыты до согласия и порога анонимности.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65507967" name="Текст 8"/>
          <p:cNvSpPr txBox="1"/>
          <p:nvPr/>
        </p:nvSpPr>
        <p:spPr bwMode="auto"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Совместить объяснимость и защиту данных: детерминированный matching без «чёрного ящика», роли и права проверяются на сервере.</a:t>
            </a:r>
            <a:br>
              <a:rPr lang="ru-RU" b="1">
                <a:solidFill>
                  <a:schemeClr val="accent5"/>
                </a:solidFill>
              </a:rPr>
            </a:br>
            <a:endParaRPr/>
          </a:p>
        </p:txBody>
      </p:sp>
      <p:sp>
        <p:nvSpPr>
          <p:cNvPr id="1574440249" name="Текст 8"/>
          <p:cNvSpPr txBox="1"/>
          <p:nvPr/>
        </p:nvSpPr>
        <p:spPr bwMode="auto"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[заполнить командой]</a:t>
            </a:r>
            <a:endParaRPr/>
          </a:p>
        </p:txBody>
      </p:sp>
      <p:sp>
        <p:nvSpPr>
          <p:cNvPr id="1790469585" name="Текст 8"/>
          <p:cNvSpPr txBox="1"/>
          <p:nvPr/>
        </p:nvSpPr>
        <p:spPr bwMode="auto"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[заполнить командой]</a:t>
            </a:r>
            <a:br>
              <a:rPr lang="ru-RU" b="1">
                <a:solidFill>
                  <a:schemeClr val="accent5"/>
                </a:solidFill>
              </a:rPr>
            </a:br>
            <a:endParaRPr/>
          </a:p>
        </p:txBody>
      </p:sp>
      <p:cxnSp>
        <p:nvCxnSpPr>
          <p:cNvPr id="1125078722" name="Прямая соединительная линия 4"/>
          <p:cNvCxnSpPr/>
          <p:nvPr/>
        </p:nvCxnSpPr>
        <p:spPr bwMode="auto">
          <a:xfrm>
            <a:off x="623888" y="274569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1438399" name="Прямая соединительная линия 5"/>
          <p:cNvCxnSpPr/>
          <p:nvPr/>
        </p:nvCxnSpPr>
        <p:spPr bwMode="auto"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54362844" name="Прямая соединительная линия 7"/>
          <p:cNvCxnSpPr/>
          <p:nvPr/>
        </p:nvCxnSpPr>
        <p:spPr bwMode="auto"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72459714" name="Текст 8"/>
          <p:cNvSpPr txBox="1"/>
          <p:nvPr/>
        </p:nvSpPr>
        <p:spPr bwMode="auto"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01</a:t>
            </a:r>
            <a:endParaRPr/>
          </a:p>
        </p:txBody>
      </p:sp>
      <p:sp>
        <p:nvSpPr>
          <p:cNvPr id="1977750831" name="Текст 8"/>
          <p:cNvSpPr txBox="1"/>
          <p:nvPr/>
        </p:nvSpPr>
        <p:spPr bwMode="auto"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02</a:t>
            </a:r>
            <a:endParaRPr/>
          </a:p>
        </p:txBody>
      </p:sp>
      <p:sp>
        <p:nvSpPr>
          <p:cNvPr id="1433482465" name="Текст 8"/>
          <p:cNvSpPr txBox="1"/>
          <p:nvPr/>
        </p:nvSpPr>
        <p:spPr bwMode="auto"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634285" name="Скругленный прямоугольник 9"/>
          <p:cNvSpPr/>
          <p:nvPr/>
        </p:nvSpPr>
        <p:spPr bwMode="auto"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2449051" name="Скругленный прямоугольник 23"/>
          <p:cNvSpPr/>
          <p:nvPr/>
        </p:nvSpPr>
        <p:spPr bwMode="auto"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93046190" name="Скругленный прямоугольник 26"/>
          <p:cNvSpPr/>
          <p:nvPr/>
        </p:nvSpPr>
        <p:spPr bwMode="auto"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27018758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11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782181813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89492" y="1920927"/>
            <a:ext cx="4929861" cy="386858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FastAPI + PostgreSQL, React/TypeScript, Docker Compose; миграции Alembic.</a:t>
            </a:r>
            <a:endParaRPr/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Грейд: задания с таймером, 9 подуровней, Evidence Profile; опыт заявляется отдельно от подтверждённых навыков.</a:t>
            </a:r>
            <a:endParaRPr/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Matching 2.0: детерминированный Requirement Fit + двусторонняя совместимость; рекомендации, избранное.</a:t>
            </a:r>
            <a:endParaRPr/>
          </a:p>
        </p:txBody>
      </p:sp>
      <p:sp>
        <p:nvSpPr>
          <p:cNvPr id="321655550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Рекрутинг и найм в IT: прозрачный отбор по подтверждённым навыкам, меньше шума для кандидатов.</a:t>
            </a:r>
            <a:br>
              <a:rPr lang="ru-RU" sz="1400">
                <a:solidFill>
                  <a:schemeClr val="tx1"/>
                </a:solidFill>
              </a:rPr>
            </a:br>
            <a:endParaRPr/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Дальше: реальная интеграция с ФСП, больше специализаций, внешняя валидация модели.</a:t>
            </a:r>
            <a:br>
              <a:rPr lang="ru-RU" sz="1400">
                <a:solidFill>
                  <a:schemeClr val="tx1"/>
                </a:solidFill>
              </a:rPr>
            </a:br>
            <a:endParaRPr/>
          </a:p>
        </p:txBody>
      </p:sp>
      <p:sp>
        <p:nvSpPr>
          <p:cNvPr id="60750015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КОРОТКО О РЕШЕНИИ</a:t>
            </a:r>
            <a:endParaRPr/>
          </a:p>
        </p:txBody>
      </p:sp>
      <p:sp>
        <p:nvSpPr>
          <p:cNvPr id="2139836321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Техническая суть решения</a:t>
            </a:r>
            <a:endParaRPr/>
          </a:p>
        </p:txBody>
      </p:sp>
      <p:sp>
        <p:nvSpPr>
          <p:cNvPr id="878253783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Маркетинговая суть решения</a:t>
            </a:r>
            <a:endParaRPr/>
          </a:p>
          <a:p>
            <a:pPr>
              <a:lnSpc>
                <a:spcPct val="100000"/>
              </a:lnSpc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onlyoffice/9.2.1.1</Application>
  <PresentationFormat>On-screen Show (4:3)</PresentationFormat>
  <Paragraphs>0</Paragraphs>
  <Slides>37</Slides>
  <Notes>37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Аноним</cp:lastModifiedBy>
  <cp:revision>96</cp:revision>
  <dcterms:created xsi:type="dcterms:W3CDTF">2023-05-15T07:36:23Z</dcterms:created>
  <dcterms:modified xsi:type="dcterms:W3CDTF">2026-09-16T13:19:25Z</dcterms:modified>
</cp:coreProperties>
</file>