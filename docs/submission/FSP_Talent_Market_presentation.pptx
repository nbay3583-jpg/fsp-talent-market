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1812951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76178070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14.09.2026</a:t>
            </a:fld>
            <a:endParaRPr lang="ru-RU"/>
          </a:p>
        </p:txBody>
      </p:sp>
      <p:sp>
        <p:nvSpPr>
          <p:cNvPr id="1008376219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657332147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161909993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32077215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4A0333-DA6B-BAA6-F9EA-5D8AC4D62B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29B8682-549C-E1BB-F508-D1525C1FC7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1444576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266101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20362608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542127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5156749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59428012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299260-C65D-4A5C-3C37-B22449FEC1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368288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88029575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401620835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602869623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076004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1666356196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522378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16.09.2026</a:t>
            </a:fld>
            <a:endParaRPr lang="ru-RU"/>
          </a:p>
        </p:txBody>
      </p:sp>
      <p:sp>
        <p:nvSpPr>
          <p:cNvPr id="104878655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9380906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92736678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1795973529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913937985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1548332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0006364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660029963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5602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16.09.2026</a:t>
            </a:fld>
            <a:endParaRPr lang="ru-RU"/>
          </a:p>
        </p:txBody>
      </p:sp>
      <p:sp>
        <p:nvSpPr>
          <p:cNvPr id="11232564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0745183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5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1669326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71237116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16.09.2026</a:t>
            </a:fld>
            <a:endParaRPr lang="ru-RU"/>
          </a:p>
        </p:txBody>
      </p:sp>
      <p:sp>
        <p:nvSpPr>
          <p:cNvPr id="185866539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10582817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454463469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536032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042926064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8977096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16.09.2026</a:t>
            </a:fld>
            <a:endParaRPr lang="ru-RU"/>
          </a:p>
        </p:txBody>
      </p:sp>
      <p:sp>
        <p:nvSpPr>
          <p:cNvPr id="1213391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777490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91928755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8555898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7223496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73163667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91712141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7280543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16.09.2026</a:t>
            </a:fld>
            <a:endParaRPr lang="ru-RU"/>
          </a:p>
        </p:txBody>
      </p:sp>
      <p:sp>
        <p:nvSpPr>
          <p:cNvPr id="657734324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41445009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91046477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12139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16.09.2026</a:t>
            </a:fld>
            <a:endParaRPr lang="ru-RU"/>
          </a:p>
        </p:txBody>
      </p:sp>
      <p:sp>
        <p:nvSpPr>
          <p:cNvPr id="14842797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4861867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1850110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75281028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896366570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611987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16.09.2026</a:t>
            </a:fld>
            <a:endParaRPr lang="ru-RU"/>
          </a:p>
        </p:txBody>
      </p:sp>
      <p:sp>
        <p:nvSpPr>
          <p:cNvPr id="155615248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1458955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801652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16.09.2026</a:t>
            </a:fld>
            <a:endParaRPr lang="ru-RU"/>
          </a:p>
        </p:txBody>
      </p:sp>
      <p:sp>
        <p:nvSpPr>
          <p:cNvPr id="2075348248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519872225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6834576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1270877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16.09.2026</a:t>
            </a:fld>
            <a:endParaRPr lang="ru-RU"/>
          </a:p>
        </p:txBody>
      </p:sp>
      <p:sp>
        <p:nvSpPr>
          <p:cNvPr id="19504199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00584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92380901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874422937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94822356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269095115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530970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6454970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069797757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35738940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476364177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458554842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682611309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680188690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9577271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689925399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5697210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208148889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684210003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2519466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969617493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08475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16.09.2026</a:t>
            </a:fld>
            <a:endParaRPr lang="ru-RU"/>
          </a:p>
        </p:txBody>
      </p:sp>
      <p:sp>
        <p:nvSpPr>
          <p:cNvPr id="208819332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757589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77865552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839753479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967254588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401935067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20516688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5329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16.09.2026</a:t>
            </a:fld>
            <a:endParaRPr lang="ru-RU"/>
          </a:p>
        </p:txBody>
      </p:sp>
      <p:sp>
        <p:nvSpPr>
          <p:cNvPr id="149572482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8407401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103893195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808292524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31151279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899808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709136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39403092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5408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16.09.2026</a:t>
            </a:fld>
            <a:endParaRPr lang="ru-RU"/>
          </a:p>
        </p:txBody>
      </p:sp>
      <p:sp>
        <p:nvSpPr>
          <p:cNvPr id="151079338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229932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37256866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68929240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88821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18155805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3972428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6472058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2275498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58109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16.09.2026</a:t>
            </a:fld>
            <a:endParaRPr lang="ru-RU"/>
          </a:p>
        </p:txBody>
      </p:sp>
      <p:sp>
        <p:nvSpPr>
          <p:cNvPr id="45079419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0081529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9732652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9114585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476688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3066030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9164481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024821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652764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9505246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930435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66692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16.09.2026</a:t>
            </a:fld>
            <a:endParaRPr lang="ru-RU"/>
          </a:p>
        </p:txBody>
      </p:sp>
      <p:sp>
        <p:nvSpPr>
          <p:cNvPr id="3437555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7152266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45142924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32442884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91519423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1879207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82414852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54076117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2832623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619203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54626048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84985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16.09.2026</a:t>
            </a:fld>
            <a:endParaRPr lang="ru-RU"/>
          </a:p>
        </p:txBody>
      </p:sp>
      <p:sp>
        <p:nvSpPr>
          <p:cNvPr id="144845255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3310992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2492746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3225624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76240833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76004260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77609924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9710853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49188184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968598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95903953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0288170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155163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957983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16.09.2026</a:t>
            </a:fld>
            <a:endParaRPr lang="ru-RU"/>
          </a:p>
        </p:txBody>
      </p:sp>
      <p:sp>
        <p:nvSpPr>
          <p:cNvPr id="167580533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143372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60885061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122197277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116118850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428729295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856443119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1922520453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034779806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508616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8964899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16.09.2026</a:t>
            </a:fld>
            <a:endParaRPr lang="ru-RU"/>
          </a:p>
        </p:txBody>
      </p:sp>
      <p:sp>
        <p:nvSpPr>
          <p:cNvPr id="378127741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93889069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47150518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021024583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20280167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604478788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2357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16.09.2026</a:t>
            </a:fld>
            <a:endParaRPr lang="ru-RU"/>
          </a:p>
        </p:txBody>
      </p:sp>
      <p:sp>
        <p:nvSpPr>
          <p:cNvPr id="1147169938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3036871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259102376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93639810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72244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2558450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823724485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5624748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906666371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66197673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90673764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7894898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58611594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45328777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255233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008796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589614520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1545724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0625227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7509977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61946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18129555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2139654067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287854632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939360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580386608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99003789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68171859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93250523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16.09.2026</a:t>
            </a:fld>
            <a:endParaRPr lang="ru-RU"/>
          </a:p>
        </p:txBody>
      </p:sp>
      <p:sp>
        <p:nvSpPr>
          <p:cNvPr id="79260098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5050469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64420842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56314850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554257058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90252769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026721607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097445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03902632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1779235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16.09.2026</a:t>
            </a:fld>
            <a:endParaRPr lang="ru-RU"/>
          </a:p>
        </p:txBody>
      </p:sp>
      <p:sp>
        <p:nvSpPr>
          <p:cNvPr id="192607067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28248768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19991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FSP Talent Market</a:t>
            </a:r>
            <a:endParaRPr lang="ru-RU" sz="4800"/>
          </a:p>
        </p:txBody>
      </p:sp>
      <p:sp>
        <p:nvSpPr>
          <p:cNvPr id="1636791008" name="Рисунок 3"/>
          <p:cNvSpPr>
            <a:spLocks noGrp="1"/>
          </p:cNvSpPr>
          <p:nvPr>
            <p:ph type="pic" sz="quarter" idx="11"/>
          </p:nvPr>
        </p:nvSpPr>
        <p:spPr bwMode="auto">
          <a:xfrm>
            <a:off x="305186" y="329801"/>
            <a:ext cx="5193299" cy="1082589"/>
          </a:xfrm>
        </p:spPr>
      </p:sp>
      <p:sp>
        <p:nvSpPr>
          <p:cNvPr id="757351073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/>
          <a:lstStyle/>
          <a:p>
            <a:pPr indent="268288">
              <a:defRPr/>
            </a:pPr>
            <a:r>
              <a:t>Обратный рекрутинг для IT: подтверждённый грейд кандидата, объяснимый подбор и командная совместимость</a:t>
            </a:r>
            <a:endParaRPr lang="ru-RU"/>
          </a:p>
        </p:txBody>
      </p:sp>
      <p:sp>
        <p:nvSpPr>
          <p:cNvPr id="1091804844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098921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1609484257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143600250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441518184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ищет не резюме, а кандидата под конкретную потребность. Грейд подтверждается заданиями и данными ФСП, подбор объясняет «почему подходит» и «чего не хватает», контакты открываются только после согласия кандидата.</a:t>
            </a:r>
            <a:endParaRPr/>
          </a:p>
        </p:txBody>
      </p:sp>
      <p:sp>
        <p:nvSpPr>
          <p:cNvPr id="661119785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[заполнить: ФИО, специальность]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[заполнить]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Команда: [заполнить]</a:t>
            </a:r>
            <a:endParaRPr/>
          </a:p>
        </p:txBody>
      </p:sp>
      <p:sp>
        <p:nvSpPr>
          <p:cNvPr id="648121520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328740113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147895407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216552124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31184900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03619342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075761414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Платформа: кандидат проходит проверку по специализации (3 грейда × 3 подуровня), работодатель получает ранжированный пул с Requirement Fit, WHY/GAPS и учётом командной совместимости.</a:t>
            </a:r>
            <a:endParaRPr/>
          </a:p>
        </p:txBody>
      </p:sp>
      <p:sp>
        <p:nvSpPr>
          <p:cNvPr id="2108767591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445992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90223453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259743807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Имя Фамилия</a:t>
            </a:r>
            <a:endParaRPr/>
          </a:p>
        </p:txBody>
      </p:sp>
      <p:sp>
        <p:nvSpPr>
          <p:cNvPr id="171774514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767261468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789313918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Имя Фамилия</a:t>
            </a:r>
            <a:endParaRPr/>
          </a:p>
        </p:txBody>
      </p:sp>
      <p:sp>
        <p:nvSpPr>
          <p:cNvPr id="651037677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499875170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054387886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Имя Фамилия</a:t>
            </a:r>
            <a:endParaRPr/>
          </a:p>
        </p:txBody>
      </p:sp>
      <p:sp>
        <p:nvSpPr>
          <p:cNvPr id="2086725175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06280066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1456275104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Имя Фамилия</a:t>
            </a:r>
            <a:endParaRPr/>
          </a:p>
        </p:txBody>
      </p:sp>
      <p:sp>
        <p:nvSpPr>
          <p:cNvPr id="48154554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662366709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93695819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172799835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</p:sp>
      <p:sp>
        <p:nvSpPr>
          <p:cNvPr id="288949743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</p:sp>
      <p:sp>
        <p:nvSpPr>
          <p:cNvPr id="368022300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</p:sp>
      <p:sp>
        <p:nvSpPr>
          <p:cNvPr id="213007835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</p:sp>
      <p:sp>
        <p:nvSpPr>
          <p:cNvPr id="1344225912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</p:sp>
      <p:sp>
        <p:nvSpPr>
          <p:cNvPr id="415042907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endParaRPr lang="ru-RU">
              <a:latin typeface="Montserrat"/>
            </a:endParaRPr>
          </a:p>
        </p:txBody>
      </p:sp>
      <p:sp>
        <p:nvSpPr>
          <p:cNvPr id="105846267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12787506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Имя Фамилия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1463204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40408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86529765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endParaRPr lang="ru-RU">
              <a:latin typeface="Montserrat"/>
            </a:endParaRPr>
          </a:p>
        </p:txBody>
      </p:sp>
      <p:sp>
        <p:nvSpPr>
          <p:cNvPr id="1588890124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[заполнить командой: история команды]</a:t>
            </a:r>
            <a:endParaRPr/>
          </a:p>
        </p:txBody>
      </p:sp>
      <p:sp>
        <p:nvSpPr>
          <p:cNvPr id="493921390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43118211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Ключевой вызов: не выдавать недостоверные цифры. Ввели состояние «Недостаточно данных» вместо ложных 0%, а контакты и ответы сотрудников скрыты до согласия и порога анонимности.</a:t>
            </a:r>
            <a:endParaRPr lang="en-US">
              <a:solidFill>
                <a:schemeClr val="tx1"/>
              </a:solidFill>
            </a:endParaRPr>
          </a:p>
        </p:txBody>
      </p:sp>
      <p:sp>
        <p:nvSpPr>
          <p:cNvPr id="765507967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Совместить объяснимость и защиту данных: детерминированный matching без «чёрного ящика», роли и права проверяются на сервере.</a:t>
            </a:r>
            <a:br>
              <a:rPr lang="ru-RU" b="1">
                <a:solidFill>
                  <a:schemeClr val="accent5"/>
                </a:solidFill>
              </a:rPr>
            </a:br>
            <a:endParaRPr/>
          </a:p>
        </p:txBody>
      </p:sp>
      <p:sp>
        <p:nvSpPr>
          <p:cNvPr id="1574440249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[заполнить командой]</a:t>
            </a:r>
            <a:endParaRPr/>
          </a:p>
        </p:txBody>
      </p:sp>
      <p:sp>
        <p:nvSpPr>
          <p:cNvPr id="1790469585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[заполнить командой]</a:t>
            </a:r>
            <a:br>
              <a:rPr lang="ru-RU" b="1">
                <a:solidFill>
                  <a:schemeClr val="accent5"/>
                </a:solidFill>
              </a:rPr>
            </a:br>
            <a:endParaRPr/>
          </a:p>
        </p:txBody>
      </p:sp>
      <p:cxnSp>
        <p:nvCxnSpPr>
          <p:cNvPr id="1125078722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01438399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54362844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72459714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977750831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433482465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4634285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2449051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393046190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727018758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17821818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FastAPI + PostgreSQL, React/TypeScript, Docker Compose; миграции Alembic.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Грейд: 11 заданий на грейд (33 семейства, 6–10 вариантов), таймер, 9 подуровней, Evidence Profile; опыт заявляется отдельно.</a:t>
            </a: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Matching 2.0: детерминированный Requirement Fit + совместимость; экспорт в ATS (CSV/JSON); помощник без внешнего ИИ; 58 демо-кандидатов.</a:t>
            </a:r>
            <a:endParaRPr/>
          </a:p>
        </p:txBody>
      </p:sp>
      <p:sp>
        <p:nvSpPr>
          <p:cNvPr id="321655550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Рекрутинг и найм в IT: прозрачный отбор по подтверждённым навыкам, меньше шума для кандидатов.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Дальше: реальная интеграция с ФСП, больше специализаций, внешняя валидация модели.</a:t>
            </a:r>
            <a:br>
              <a:rPr lang="ru-RU" sz="1400">
                <a:solidFill>
                  <a:schemeClr val="tx1"/>
                </a:solidFill>
              </a:rPr>
            </a:br>
            <a:endParaRPr/>
          </a:p>
        </p:txBody>
      </p:sp>
      <p:sp>
        <p:nvSpPr>
          <p:cNvPr id="607500153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2139836321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87825378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(4:3)</PresentationFormat>
  <Paragraphs>0</Paragraphs>
  <Slides>37</Slides>
  <Notes>37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3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Аноним</cp:lastModifiedBy>
  <cp:revision>96</cp:revision>
  <dcterms:created xsi:type="dcterms:W3CDTF">2023-05-15T07:36:23Z</dcterms:created>
  <dcterms:modified xsi:type="dcterms:W3CDTF">2026-09-16T13:19:25Z</dcterms:modified>
</cp:coreProperties>
</file>