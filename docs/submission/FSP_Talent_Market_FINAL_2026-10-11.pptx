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  <p:sldId id="272" r:id="rId20"/>
    <p:sldId id="279" r:id="rId27"/>
    <p:sldId id="280" r:id="rId28"/>
    <p:sldId id="271" r:id="rId19"/>
    <p:sldId id="275" r:id="rId23"/>
    <p:sldId id="268" r:id="rId16"/>
    <p:sldId id="282" r:id="rId30"/>
    <p:sldId id="276" r:id="rId24"/>
    <p:sldId id="273" r:id="rId21"/>
    <p:sldId id="270" r:id="rId18"/>
    <p:sldId id="267" r:id="rId15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30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688"/>
          <c:y val="0.126935"/>
          <c:w val="0.926086"/>
          <c:h val="0.6674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Keyword baseline</c:v>
                </c:pt>
              </c:strCache>
            </c:strRef>
          </c:tx>
          <c:spPr bwMode="auto">
            <a:prstGeom prst="rect">
              <a:avLst/>
            </a:prstGeom>
            <a:solidFill>
              <a:srgbClr val="9B8BD6"/>
            </a:solidFill>
            <a:ln w="63500"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nDCG@10</c:v>
                </c:pt>
              </c:strCache>
            </c:strRef>
          </c:cat>
          <c:val>
            <c:numRef>
              <c:f>Sheet1!$B$2:$B$3</c:f>
              <c:numCache>
                <c:formatCode>0.000</c:formatCode>
                <c:ptCount val="2"/>
                <c:pt idx="0">
                  <c:v>0.26</c:v>
                </c:pt>
                <c:pt idx="1">
                  <c:v>0.395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Только hard filters</c:v>
                </c:pt>
              </c:strCache>
            </c:strRef>
          </c:tx>
          <c:spPr bwMode="auto">
            <a:prstGeom prst="rect">
              <a:avLst/>
            </a:prstGeom>
            <a:solidFill>
              <a:srgbClr val="FFC2D4"/>
            </a:solidFill>
            <a:ln w="63500"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nDCG@10</c:v>
                </c:pt>
              </c:strCache>
            </c:strRef>
          </c:cat>
          <c:val>
            <c:numRef>
              <c:f>Sheet1!$C$2:$C$3</c:f>
              <c:numCache>
                <c:formatCode>0.000</c:formatCode>
                <c:ptCount val="2"/>
                <c:pt idx="0">
                  <c:v>0.66</c:v>
                </c:pt>
                <c:pt idx="1">
                  <c:v>0.841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Evidence matching</c:v>
                </c:pt>
              </c:strCache>
            </c:strRef>
          </c:tx>
          <c:spPr bwMode="auto">
            <a:prstGeom prst="rect">
              <a:avLst/>
            </a:prstGeom>
            <a:solidFill>
              <a:srgbClr val="FF0A54"/>
            </a:solidFill>
            <a:ln w="63500"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nDCG@10</c:v>
                </c:pt>
              </c:strCache>
            </c:strRef>
          </c:cat>
          <c:val>
            <c:numRef>
              <c:f>Sheet1!$D$2:$D$3</c:f>
              <c:numCache>
                <c:formatCode>0.000</c:formatCode>
                <c:ptCount val="2"/>
                <c:pt idx="0">
                  <c:v>0.78</c:v>
                </c:pt>
                <c:pt idx="1">
                  <c:v>0.973</c:v>
                </c:pt>
              </c:numCache>
            </c:numRef>
          </c:val>
        </c:ser>
        <c:dLbls>
          <c:showBubbleSize val="0"/>
          <c:showCatName val="0"/>
          <c:showLeaderLines val="0"/>
          <c:numFmt formatCode="0.00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showLegendKey val="0"/>
          <c:showPercent val="0"/>
          <c:showSerName val="0"/>
          <c:showVal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.0"/>
          <c:min val="0.0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0.25"/>
      </c:valAx>
      <c:spPr bwMode="auto">
        <a:prstGeom prst="rect">
          <a:avLst/>
        </a:prstGeom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030341"/>
          <c:y val="0.938201"/>
          <c:w val="0.947401"/>
          <c:h val="0.061799"/>
        </c:manualLayout>
      </c:layout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157170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6321858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02.10.2026</a:t>
            </a:fld>
            <a:endParaRPr lang="ru-RU"/>
          </a:p>
        </p:txBody>
      </p:sp>
      <p:sp>
        <p:nvSpPr>
          <p:cNvPr id="1957788404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713340048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40183915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95542062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CC02CA-8454-9F97-FA38-48EFA36B0B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09FD06-DA66-F1F0-F3E9-6975275585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774488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7214139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98477744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933650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14660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880314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7F3EA9-BF45-10B8-CBD7-296C0E9D78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C23004-47C8-AD2E-7113-91D4B5411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710096-0467-0645-4E0B-3EF5D9D1D7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17E266-4014-0A59-CA58-0FFBD4476C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638F13-5669-1019-1C8C-95B8D58D51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B65A8C-4A26-2195-576D-639625856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BCE24-9423-1E94-C46D-E7C6EEAAFB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18ACFE-741B-7618-71A9-F340AF1BAF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A12147-2868-DC67-FB60-A852BDB104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2AB0E0-C934-76A9-3168-CA83882B7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3A7F88-19B4-3F01-E7A6-24EA42529A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4323DB-BA08-87B3-2C49-2B45DEFEA5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180641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50397967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1256380558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1098610814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403568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55311491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4720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05.10.2026</a:t>
            </a:fld>
            <a:endParaRPr lang="ru-RU"/>
          </a:p>
        </p:txBody>
      </p:sp>
      <p:sp>
        <p:nvSpPr>
          <p:cNvPr id="199153604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2289013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83097745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37553181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87673418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778295023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501434373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529304577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287412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2510810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05.10.2026</a:t>
            </a:fld>
            <a:endParaRPr lang="ru-RU"/>
          </a:p>
        </p:txBody>
      </p:sp>
      <p:sp>
        <p:nvSpPr>
          <p:cNvPr id="34081609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1681040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41606490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1399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05.10.2026</a:t>
            </a:fld>
            <a:endParaRPr lang="ru-RU"/>
          </a:p>
        </p:txBody>
      </p:sp>
      <p:sp>
        <p:nvSpPr>
          <p:cNvPr id="154571520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0563576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2110218959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143596093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600879769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062439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61387694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285912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573626499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540298012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325924422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896141970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574426472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53822934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3352713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05776006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1785488022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42528938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974509032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169854357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070010942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077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05.10.2026</a:t>
            </a:fld>
            <a:endParaRPr lang="ru-RU"/>
          </a:p>
        </p:txBody>
      </p:sp>
      <p:sp>
        <p:nvSpPr>
          <p:cNvPr id="12916279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32923365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87129386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688433761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98578071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726335367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880206615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613755949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49872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05.10.2026</a:t>
            </a:fld>
            <a:endParaRPr lang="ru-RU"/>
          </a:p>
        </p:txBody>
      </p:sp>
      <p:sp>
        <p:nvSpPr>
          <p:cNvPr id="153506933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838607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82357768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12430912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5197544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23250913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947056009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37730963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8917565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00281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05.10.2026</a:t>
            </a:fld>
            <a:endParaRPr lang="ru-RU"/>
          </a:p>
        </p:txBody>
      </p:sp>
      <p:sp>
        <p:nvSpPr>
          <p:cNvPr id="5512980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9609028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289794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74307912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849487895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991793075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986084538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732959394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135567587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802010560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79448600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57981084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037388937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6486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05.10.2026</a:t>
            </a:fld>
            <a:endParaRPr lang="ru-RU"/>
          </a:p>
        </p:txBody>
      </p:sp>
      <p:sp>
        <p:nvSpPr>
          <p:cNvPr id="178607247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6140657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23365650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09169082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038657045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378396587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93950348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663950847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015928253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81527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05.10.2026</a:t>
            </a:fld>
            <a:endParaRPr lang="ru-RU"/>
          </a:p>
        </p:txBody>
      </p:sp>
      <p:sp>
        <p:nvSpPr>
          <p:cNvPr id="178753724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7721101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04676792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74863544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36293562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2107171303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  <p:txBody>
          <a:bodyPr/>
          <a:p/>
        </p:txBody>
      </p:sp>
      <p:sp>
        <p:nvSpPr>
          <p:cNvPr id="1583818537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5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0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2921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8346952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7153087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05.10.2026</a:t>
            </a:fld>
            <a:endParaRPr lang="ru-RU"/>
          </a:p>
        </p:txBody>
      </p:sp>
      <p:sp>
        <p:nvSpPr>
          <p:cNvPr id="8136082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1788653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7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5"/>
    <p:sldLayoutId id="2147483659" r:id="rId11"/>
    <p:sldLayoutId id="2147483661" r:id="rId13"/>
    <p:sldLayoutId id="2147483662" r:id="rId14"/>
    <p:sldLayoutId id="2147483665" r:id="rId17"/>
    <p:sldLayoutId id="2147483666" r:id="rId18"/>
    <p:sldLayoutId id="2147483668" r:id="rId20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0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8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80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80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67504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400" b="1"/>
              <a:t>FSP Talent Market</a:t>
            </a:r>
          </a:p>
        </p:txBody>
      </p:sp>
      <p:sp>
        <p:nvSpPr>
          <p:cNvPr id="1181903887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>
              <a:defRPr/>
            </a:pPr>
            <a:r>
              <a:rPr lang="ru-RU"/>
              <a:t>Цифровая платформа-агрегатор ИТ-вакансий с верифицированным профилем достижений участника Федерации спортивного программирования (ФСП)</a:t>
            </a:r>
          </a:p>
        </p:txBody>
      </p:sp>
      <p:sp>
        <p:nvSpPr>
          <p:cNvPr id="181498827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954025764" name="Рисунок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6075" y="631174"/>
            <a:ext cx="4905194" cy="620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890027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02721231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15865161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Не агрегатор вакансий и не скоринг текста резюме: заявка → свидетельство → подтверждённый уровень; WHY/GAPS к каждому кандидату; контакты — только после согласия.</a:t>
            </a:r>
          </a:p>
        </p:txBody>
      </p:sp>
      <p:sp>
        <p:nvSpPr>
          <p:cNvPr id="105199791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100">
                <a:solidFill>
                  <a:schemeClr val="tx1"/>
                </a:solidFill>
              </a:rPr>
              <a:t>Капитан: </a:t>
            </a:r>
            <a:r>
              <a:rPr lang="ru-RU" b="0" sz="1100">
                <a:solidFill>
                  <a:schemeClr val="tx1"/>
                </a:solidFill>
              </a:rPr>
              <a:t>Житняков Александр Алексеевич; Product Lead / AI Engineer / Backend Developer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100">
                <a:solidFill>
                  <a:schemeClr val="tx1"/>
                </a:solidFill>
              </a:rPr>
              <a:t>Кол-во участников: </a:t>
            </a:r>
            <a:r>
              <a:rPr lang="ru-RU" b="0" sz="1100">
                <a:solidFill>
                  <a:schemeClr val="tx1"/>
                </a:solidFill>
              </a:rPr>
              <a:t>2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100">
                <a:solidFill>
                  <a:schemeClr val="tx1"/>
                </a:solidFill>
              </a:rPr>
              <a:t>О проекте: </a:t>
            </a:r>
            <a:r>
              <a:rPr lang="ru-RU" b="0" sz="1100">
                <a:solidFill>
                  <a:schemeClr val="tx1"/>
                </a:solidFill>
              </a:rPr>
              <a:t>MVP разработан 5–11 октября 2026 (по истории репозитория)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100">
                <a:solidFill>
                  <a:schemeClr val="tx1"/>
                </a:solidFill>
              </a:rPr>
              <a:t>Команда: </a:t>
            </a:r>
            <a:r>
              <a:rPr lang="ru-RU" b="0" sz="1100">
                <a:solidFill>
                  <a:schemeClr val="tx1"/>
                </a:solidFill>
              </a:rPr>
              <a:t>тот же состав, что участвовал в RepoMind AI; работа и учёба: независимая проектная деятельность (AI / Backend), промышленная компания (Data Science)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100">
                <a:solidFill>
                  <a:schemeClr val="tx1"/>
                </a:solidFill>
              </a:rPr>
              <a:t>Город: </a:t>
            </a:r>
            <a:r>
              <a:rPr lang="ru-RU" b="0" sz="1100">
                <a:solidFill>
                  <a:schemeClr val="tx1"/>
                </a:solidFill>
              </a:rPr>
              <a:t>Москва (капитан), Пермь</a:t>
            </a:r>
          </a:p>
        </p:txBody>
      </p:sp>
      <p:sp>
        <p:nvSpPr>
          <p:cNvPr id="268204258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714848317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Обратный рекрутинг для IT</a:t>
            </a:r>
          </a:p>
        </p:txBody>
      </p:sp>
      <p:cxnSp>
        <p:nvCxnSpPr>
          <p:cNvPr id="427168629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3497711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92144605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94685186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206810117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Платформа связывает напрямую работодателя и кандидата: кандидат подтверждает навык заданиями, работодатель выбирает по профилю и первым отправляет предложение с зарплатной вилкой.</a:t>
            </a:r>
          </a:p>
        </p:txBody>
      </p:sp>
      <p:sp>
        <p:nvSpPr>
          <p:cNvPr id="1732944542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2033497712" name="Picture 2033497711" descr="c_profile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5267"/>
            <a:ext cx="6456363" cy="278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629155" name="Скругленный прямоугольник 55"/>
          <p:cNvSpPr/>
          <p:nvPr/>
        </p:nvSpPr>
        <p:spPr bwMode="auto">
          <a:xfrm>
            <a:off x="6300000" y="1522006"/>
            <a:ext cx="4300000" cy="44000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8186398" name="Текст 8"/>
          <p:cNvSpPr txBox="1"/>
          <p:nvPr/>
        </p:nvSpPr>
        <p:spPr bwMode="auto">
          <a:xfrm>
            <a:off x="6500000" y="2500000"/>
            <a:ext cx="3900000" cy="3300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Город: Пермь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Роль: Scoring Methodology / Backend / Validation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Отвечает за методологию оценки, валидацию и техническую экспертизу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Telegram: @Grinevich_Ilya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Телефон: +7 951 955-71-38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Специализация: Data Scientist; занятость: промышленная компания</a:t>
            </a:r>
          </a:p>
        </p:txBody>
      </p:sp>
      <p:sp>
        <p:nvSpPr>
          <p:cNvPr id="296400869" name="Текст 8"/>
          <p:cNvSpPr txBox="1"/>
          <p:nvPr/>
        </p:nvSpPr>
        <p:spPr bwMode="auto">
          <a:xfrm>
            <a:off x="6500000" y="1800000"/>
            <a:ext cx="3900000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Гриневич Илья Дмитриевич</a:t>
            </a:r>
          </a:p>
        </p:txBody>
      </p:sp>
      <p:sp>
        <p:nvSpPr>
          <p:cNvPr id="867700234" name="Скругленный прямоугольник 16"/>
          <p:cNvSpPr/>
          <p:nvPr/>
        </p:nvSpPr>
        <p:spPr bwMode="auto">
          <a:xfrm>
            <a:off x="1500000" y="1522006"/>
            <a:ext cx="4300000" cy="44000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03803464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86761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367136148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КОМАНДА</a:t>
            </a:r>
          </a:p>
        </p:txBody>
      </p:sp>
      <p:sp>
        <p:nvSpPr>
          <p:cNvPr id="453387183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1700000" y="2500000"/>
            <a:ext cx="3900000" cy="3300000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Город: Москва</a:t>
            </a:r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Роль: Product Lead / AI Engineer / Backend Developer</a:t>
            </a:r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Отвечает за архитектуру, разработку платформы, продукт и демонстрацию</a:t>
            </a:r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Telegram: @zhitnyakov</a:t>
            </a:r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Телефон: +7 915 131-53-33</a:t>
            </a:r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Занятость: независимая проектная деятельность, AI / Backend Engineering</a:t>
            </a:r>
          </a:p>
        </p:txBody>
      </p:sp>
      <p:sp>
        <p:nvSpPr>
          <p:cNvPr id="1083670508" name="Текст 8"/>
          <p:cNvSpPr txBox="1"/>
          <p:nvPr/>
        </p:nvSpPr>
        <p:spPr bwMode="auto">
          <a:xfrm>
            <a:off x="1700000" y="1800000"/>
            <a:ext cx="3900000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Житняков Александр Алексеевич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846475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8084777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471426268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ИСТОРИЯ КОМАНДЫ</a:t>
            </a:r>
          </a:p>
        </p:txBody>
      </p:sp>
      <p:sp>
        <p:nvSpPr>
          <p:cNvPr id="1997853247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Команда из двух человек — тот же состав, что участвовал в RepoMind AI. Продукт-лид и бэкенд-разработка (Москва) и методология оценки и валидации (Пермь) соединились в одном MVP.</a:t>
            </a:r>
          </a:p>
        </p:txBody>
      </p:sp>
      <p:sp>
        <p:nvSpPr>
          <p:cNvPr id="1713379415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108071369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100">
                <a:solidFill>
                  <a:schemeClr val="tx1"/>
                </a:solidFill>
              </a:rPr>
              <a:t>1. Честные числа: вместо ложных 0% — состояние «Недостаточно данных»; валидация на собственном синтетическом датасете без подгонки под метки.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sz="1100">
                <a:solidFill>
                  <a:schemeClr val="tx1"/>
                </a:solidFill>
              </a:rPr>
              <a:t>2. Объяснимость без «чёрного ящика»: детерминированная оценка и подбор; права и приватность проверяются на сервере.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sz="1100">
                <a:solidFill>
                  <a:schemeClr val="tx1"/>
                </a:solidFill>
              </a:rPr>
              <a:t>3. Итерации по замечаниям тестировщика: 20 пунктов правок за последние сутки перед сдачей (по репозиторию — 61 коммит с 5 по 11 октября).</a:t>
            </a:r>
          </a:p>
        </p:txBody>
      </p:sp>
      <p:sp>
        <p:nvSpPr>
          <p:cNvPr id="839218774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2014514988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ТЗ ФСП: резюме фиксирует стек, но не подтверждает компетентность. Сделать подтверждение первичным и проверяемым — инженерная задача на 7 дней.</a:t>
            </a:r>
          </a:p>
        </p:txBody>
      </p:sp>
      <p:sp>
        <p:nvSpPr>
          <p:cNvPr id="2060431593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941510088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06015655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065619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37025762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3106387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305101464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93763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00373574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48125719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7654587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915710338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React + TypeScript → FastAPI → PostgreSQL (Alembic), Docker Compose; роли и серверные проверки доступа.</a:t>
            </a:r>
          </a:p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Core Assessment: 9 подуровней J1–S3, 17 заданий на попытку (51 семейство, 269 вариантов); экзамены FastAPI и PostgreSQL; оценка детерминирована.</a:t>
            </a:r>
          </a:p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Evidence Profile: Skill Claim → Evidence → Verified Skill Level.</a:t>
            </a:r>
          </a:p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Подбор: hard filters → Requirement Fit → WHY/GAPS; контакты открывает только ACCEPT.</a:t>
            </a:r>
          </a:p>
        </p:txBody>
      </p:sp>
      <p:sp>
        <p:nvSpPr>
          <p:cNvPr id="1334753195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Для работодателя: выбор по подтверждённым навыкам вместо ручного разбора откликов.</a:t>
            </a:r>
          </a:p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Для кандидата: подтверждённый уровень и предложения с зарплатой; для участников ФСП — история достижений (сейчас mock-адаптер).</a:t>
            </a:r>
          </a:p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Дальше: реальная интеграция ФСП/Keycloak, ATS, новые специализации, калибровка оценки.</a:t>
            </a:r>
          </a:p>
        </p:txBody>
      </p:sp>
      <p:sp>
        <p:nvSpPr>
          <p:cNvPr id="316241052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1769277747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203338227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650250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49475326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2900000"/>
          </a:xfrm>
        </p:spPr>
        <p:txBody>
          <a:bodyPr/>
          <a:lstStyle/>
          <a:p>
            <a:pPr>
              <a:defRPr/>
            </a:pPr>
            <a:r>
              <a:rPr lang="ru-RU" b="1" sz="1600">
                <a:solidFill>
                  <a:srgbClr val="3C1053"/>
                </a:solidFill>
              </a:rPr>
              <a:t>Подтверждённый навык — вместо декларации в резюме.</a:t>
            </a:r>
          </a:p>
          <a:p>
            <a:pPr>
              <a:defRPr/>
            </a:pPr>
            <a:r>
              <a:rPr lang="ru-RU" sz="1600">
                <a:solidFill>
                  <a:srgbClr val="3C1053"/>
                </a:solidFill>
              </a:rPr>
              <a:t>Работодатель находит кандидата по доказательствам и первым делает предложение с зарплатой.</a:t>
            </a:r>
          </a:p>
          <a:p>
            <a:pPr>
              <a:defRPr/>
            </a:pPr>
            <a:r>
              <a:rPr lang="ru-RU" b="1" sz="1600">
                <a:solidFill>
                  <a:srgbClr val="3C1053"/>
                </a:solidFill>
              </a:rPr>
              <a:t>Запустите сценарий кандидата и работодателя:</a:t>
            </a:r>
          </a:p>
          <a:p>
            <a:pPr>
              <a:defRPr/>
            </a:pPr>
            <a:r>
              <a:rPr lang="ru-RU" sz="1600">
                <a:solidFill>
                  <a:srgbClr val="3C1053"/>
                </a:solidFill>
              </a:rPr>
              <a:t>https://fsp.tradefon.ru</a:t>
            </a:r>
          </a:p>
        </p:txBody>
      </p:sp>
      <p:sp>
        <p:nvSpPr>
          <p:cNvPr id="189466192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12</a:t>
            </a:fld>
            <a:endParaRPr lang="ru-RU"/>
          </a:p>
        </p:txBody>
      </p:sp>
      <p:sp>
        <p:nvSpPr>
          <p:cNvPr id="93892876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rgbClr val="4A0D67"/>
                </a:solidFill>
              </a:rPr>
              <a:t>FSP TALENT MARKET</a:t>
            </a:r>
          </a:p>
        </p:txBody>
      </p:sp>
      <p:pic>
        <p:nvPicPr>
          <p:cNvPr id="1894661926" name="Picture 1894661925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33" y="4400000"/>
            <a:ext cx="1700000" cy="1700000"/>
          </a:xfrm>
          <a:prstGeom prst="rect">
            <a:avLst/>
          </a:prstGeom>
        </p:spPr>
      </p:pic>
      <p:sp>
        <p:nvSpPr>
          <p:cNvPr id="1894661927" name="TextBox 1894661926"/>
          <p:cNvSpPr txBox="1"/>
          <p:nvPr/>
        </p:nvSpPr>
        <p:spPr>
          <a:xfrm>
            <a:off x="2400000" y="4900000"/>
            <a:ext cx="3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7B"/>
                </a:solidFill>
                <a:latin typeface="Montserrat"/>
              </a:rPr>
              <a:t>QR-код ведёт на стенд (проверен 11.10.2026)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42481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1060380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017549168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>
              <a:defRPr/>
            </a:pPr>
            <a:r>
              <a:rPr lang="ru-RU" sz="3600">
                <a:solidFill>
                  <a:srgbClr val="FFFFFF"/>
                </a:solidFill>
              </a:rPr>
              <a:t>ПУТЬ РАБОТОДАТЕЛЯ</a:t>
            </a:r>
          </a:p>
        </p:txBody>
      </p:sp>
      <p:pic>
        <p:nvPicPr>
          <p:cNvPr id="2017549169" name="Picture 2017549168" descr="c_w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00" y="1450000"/>
            <a:ext cx="6020000" cy="4500000"/>
          </a:xfrm>
          <a:prstGeom prst="rect">
            <a:avLst/>
          </a:prstGeom>
        </p:spPr>
      </p:pic>
      <p:sp>
        <p:nvSpPr>
          <p:cNvPr id="2017549170" name="TextBox 2017549169"/>
          <p:cNvSpPr txBox="1"/>
          <p:nvPr/>
        </p:nvSpPr>
        <p:spPr>
          <a:xfrm>
            <a:off x="6700000" y="1550000"/>
            <a:ext cx="49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C1053"/>
                </a:solidFill>
                <a:latin typeface="Montserrat"/>
              </a:rPr>
              <a:t>1  Потребность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1053"/>
                </a:solidFill>
                <a:latin typeface="Montserrat"/>
              </a:rPr>
              <a:t>специализация, грейд, навыки, зарплата, формат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C1053"/>
                </a:solidFill>
                <a:latin typeface="Montserrat"/>
              </a:rPr>
              <a:t>2  Hard filters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1053"/>
                </a:solidFill>
                <a:latin typeface="Montserrat"/>
              </a:rPr>
              <a:t>специализация, грейд ±1 подуровень, зарплата, формат и локация, срок выхода, видимость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C1053"/>
                </a:solidFill>
                <a:latin typeface="Montserrat"/>
              </a:rPr>
              <a:t>3  Requirement Fit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1053"/>
                </a:solidFill>
                <a:latin typeface="Montserrat"/>
              </a:rPr>
              <a:t>соответствие только этой потребности, не общий рейтинг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C1053"/>
                </a:solidFill>
                <a:latin typeface="Montserrat"/>
              </a:rPr>
              <a:t>4  WHY / GAPS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1053"/>
                </a:solidFill>
                <a:latin typeface="Montserrat"/>
              </a:rPr>
              <a:t>причины выбора и пробелы; shortlist и полный пул</a:t>
            </a:r>
          </a:p>
        </p:txBody>
      </p:sp>
      <p:sp>
        <p:nvSpPr>
          <p:cNvPr id="2017549171" name="TextBox 2017549170"/>
          <p:cNvSpPr txBox="1"/>
          <p:nvPr/>
        </p:nvSpPr>
        <p:spPr>
          <a:xfrm>
            <a:off x="346075" y="642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Montserrat"/>
              </a:rPr>
              <a:t>Скриншот стенда (демо-работодатель, синтетический пул). Экран: 78 рассмотрено → 20 прошли ограничения.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17777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 sz="2000">
                <a:solidFill>
                  <a:srgbClr val="4A0D67"/>
                </a:solidFill>
              </a:rPr>
              <a:t>ЧТО РАБОТАЕТ И ЧТО ДАЛЬШЕ</a:t>
            </a:r>
          </a:p>
        </p:txBody>
      </p:sp>
      <p:sp>
        <p:nvSpPr>
          <p:cNvPr id="924262615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Core 17 заданий и экзамены</a:t>
            </a:r>
          </a:p>
        </p:txBody>
      </p:sp>
      <p:sp>
        <p:nvSpPr>
          <p:cNvPr id="677242086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Python Practice (Pyodide)</a:t>
            </a:r>
          </a:p>
        </p:txBody>
      </p:sp>
      <p:sp>
        <p:nvSpPr>
          <p:cNvPr id="304624801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WHY/GAPS и приглашения</a:t>
            </a:r>
          </a:p>
        </p:txBody>
      </p:sp>
      <p:sp>
        <p:nvSpPr>
          <p:cNvPr id="801203462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Реальные ФСП и Keycloak, SMTP</a:t>
            </a:r>
          </a:p>
        </p:txBody>
      </p:sp>
      <p:sp>
        <p:nvSpPr>
          <p:cNvPr id="2019842225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Экспертиза банков и калибровка</a:t>
            </a:r>
          </a:p>
        </p:txBody>
      </p:sp>
      <p:sp>
        <p:nvSpPr>
          <p:cNvPr id="48473059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2137792692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1897233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2922052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6467256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3388296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37792693" name="TextBox 2137792692"/>
          <p:cNvSpPr txBox="1"/>
          <p:nvPr/>
        </p:nvSpPr>
        <p:spPr>
          <a:xfrm>
            <a:off x="5560000" y="1735025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7F5C"/>
                </a:solidFill>
                <a:latin typeface="Montserrat"/>
              </a:rPr>
              <a:t>РАБОТАЕТ</a:t>
            </a:r>
          </a:p>
        </p:txBody>
      </p:sp>
      <p:sp>
        <p:nvSpPr>
          <p:cNvPr id="2137792694" name="TextBox 2137792693"/>
          <p:cNvSpPr txBox="1"/>
          <p:nvPr/>
        </p:nvSpPr>
        <p:spPr>
          <a:xfrm>
            <a:off x="7000000" y="1705025"/>
            <a:ext cx="4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C1053"/>
                </a:solidFill>
                <a:latin typeface="Montserrat"/>
              </a:rPr>
              <a:t>FastAPI и PostgreSQL — независимые Skill Evidence</a:t>
            </a:r>
          </a:p>
        </p:txBody>
      </p:sp>
      <p:sp>
        <p:nvSpPr>
          <p:cNvPr id="2137792695" name="TextBox 2137792694"/>
          <p:cNvSpPr txBox="1"/>
          <p:nvPr/>
        </p:nvSpPr>
        <p:spPr>
          <a:xfrm>
            <a:off x="5560000" y="2592035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7F5C"/>
                </a:solidFill>
                <a:latin typeface="Montserrat"/>
              </a:rPr>
              <a:t>РАБОТАЕТ</a:t>
            </a:r>
          </a:p>
        </p:txBody>
      </p:sp>
      <p:sp>
        <p:nvSpPr>
          <p:cNvPr id="2137792696" name="TextBox 2137792695"/>
          <p:cNvSpPr txBox="1"/>
          <p:nvPr/>
        </p:nvSpPr>
        <p:spPr>
          <a:xfrm>
            <a:off x="7000000" y="2562035"/>
            <a:ext cx="4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C1053"/>
                </a:solidFill>
                <a:latin typeface="Montserrat"/>
              </a:rPr>
              <a:t>самопроверка в браузере; не сертификация, не влияет на грейд</a:t>
            </a:r>
          </a:p>
        </p:txBody>
      </p:sp>
      <p:sp>
        <p:nvSpPr>
          <p:cNvPr id="2137792697" name="TextBox 2137792696"/>
          <p:cNvSpPr txBox="1"/>
          <p:nvPr/>
        </p:nvSpPr>
        <p:spPr>
          <a:xfrm>
            <a:off x="5560000" y="3449044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7F5C"/>
                </a:solidFill>
                <a:latin typeface="Montserrat"/>
              </a:rPr>
              <a:t>РАБОТАЕТ</a:t>
            </a:r>
          </a:p>
        </p:txBody>
      </p:sp>
      <p:sp>
        <p:nvSpPr>
          <p:cNvPr id="2137792698" name="TextBox 2137792697"/>
          <p:cNvSpPr txBox="1"/>
          <p:nvPr/>
        </p:nvSpPr>
        <p:spPr>
          <a:xfrm>
            <a:off x="7000000" y="3419044"/>
            <a:ext cx="4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C1053"/>
                </a:solidFill>
                <a:latin typeface="Montserrat"/>
              </a:rPr>
              <a:t>вилка GROSS/NET, ACCEPT/DECLINE, контакты после согласия</a:t>
            </a:r>
          </a:p>
        </p:txBody>
      </p:sp>
      <p:sp>
        <p:nvSpPr>
          <p:cNvPr id="2137792699" name="TextBox 2137792698"/>
          <p:cNvSpPr txBox="1"/>
          <p:nvPr/>
        </p:nvSpPr>
        <p:spPr>
          <a:xfrm>
            <a:off x="5560000" y="4306053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2185B"/>
                </a:solidFill>
                <a:latin typeface="Montserrat"/>
              </a:rPr>
              <a:t>ПЛАН</a:t>
            </a:r>
          </a:p>
        </p:txBody>
      </p:sp>
      <p:sp>
        <p:nvSpPr>
          <p:cNvPr id="2137792700" name="TextBox 2137792699"/>
          <p:cNvSpPr txBox="1"/>
          <p:nvPr/>
        </p:nvSpPr>
        <p:spPr>
          <a:xfrm>
            <a:off x="7000000" y="4276053"/>
            <a:ext cx="4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C1053"/>
                </a:solidFill>
                <a:latin typeface="Montserrat"/>
              </a:rPr>
              <a:t>сейчас mock-адаптер ФСП, письма — демонстрационные</a:t>
            </a:r>
          </a:p>
        </p:txBody>
      </p:sp>
      <p:sp>
        <p:nvSpPr>
          <p:cNvPr id="2137792701" name="TextBox 2137792700"/>
          <p:cNvSpPr txBox="1"/>
          <p:nvPr/>
        </p:nvSpPr>
        <p:spPr>
          <a:xfrm>
            <a:off x="5560000" y="5163063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2185B"/>
                </a:solidFill>
                <a:latin typeface="Montserrat"/>
              </a:rPr>
              <a:t>ПЛАН</a:t>
            </a:r>
          </a:p>
        </p:txBody>
      </p:sp>
      <p:sp>
        <p:nvSpPr>
          <p:cNvPr id="2137792702" name="TextBox 2137792701"/>
          <p:cNvSpPr txBox="1"/>
          <p:nvPr/>
        </p:nvSpPr>
        <p:spPr>
          <a:xfrm>
            <a:off x="7000000" y="5133063"/>
            <a:ext cx="4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C1053"/>
                </a:solidFill>
                <a:latin typeface="Montserrat"/>
              </a:rPr>
              <a:t>экспертная проверка вопросов, серверная песочница, данные реальных кандидатов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542139" name="Скругленный прямоугольник 9"/>
          <p:cNvSpPr/>
          <p:nvPr/>
        </p:nvSpPr>
        <p:spPr bwMode="auto">
          <a:xfrm>
            <a:off x="346075" y="324562"/>
            <a:ext cx="476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0801820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4879734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70545689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6363853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8801304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510226238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ru-RU" sz="1600">
                <a:solidFill>
                  <a:srgbClr val="F92571"/>
                </a:solidFill>
              </a:rPr>
              <a:t>3 грейда, 9 подуровней</a:t>
            </a:r>
          </a:p>
        </p:txBody>
      </p:sp>
      <p:sp>
        <p:nvSpPr>
          <p:cNvPr id="998785860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Junior / Middle / Senior × 3 подуровня (J1–S3); пороги подтверждения 60 / 70 / 75%.</a:t>
            </a:r>
          </a:p>
        </p:txBody>
      </p:sp>
      <p:sp>
        <p:nvSpPr>
          <p:cNvPr id="1793847409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lang="ru-RU" sz="1600">
                <a:solidFill>
                  <a:srgbClr val="F92571"/>
                </a:solidFill>
              </a:rPr>
              <a:t>51 семейство, 269 вариантов</a:t>
            </a:r>
          </a:p>
        </p:txBody>
      </p:sp>
      <p:sp>
        <p:nvSpPr>
          <p:cNvPr id="1386852858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Параметризованные варианты одной сложности; 18 новых семейств пока по 2 варианта.</a:t>
            </a:r>
          </a:p>
        </p:txBody>
      </p:sp>
      <p:sp>
        <p:nvSpPr>
          <p:cNvPr id="1851403984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lang="ru-RU" sz="1600">
                <a:solidFill>
                  <a:srgbClr val="F92571"/>
                </a:solidFill>
              </a:rPr>
              <a:t>17 заданий на попытку</a:t>
            </a:r>
          </a:p>
        </p:txBody>
      </p:sp>
      <p:sp>
        <p:nvSpPr>
          <p:cNvPr id="870875698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6 компетенций, 22–34 минуты. Форматы: single, multi, numeric.</a:t>
            </a:r>
          </a:p>
        </p:txBody>
      </p:sp>
      <p:sp>
        <p:nvSpPr>
          <p:cNvPr id="1415948269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ru-RU" sz="1600">
                <a:solidFill>
                  <a:srgbClr val="F92571"/>
                </a:solidFill>
              </a:rPr>
              <a:t>Экзамены FastAPI и PostgreSQL</a:t>
            </a:r>
          </a:p>
        </p:txBody>
      </p:sp>
      <p:sp>
        <p:nvSpPr>
          <p:cNvPr id="67918142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По 10 вопросов на грейд; отдельное подтверждение навыка, общий грейд не меняют.</a:t>
            </a:r>
          </a:p>
        </p:txBody>
      </p:sp>
      <p:sp>
        <p:nvSpPr>
          <p:cNvPr id="193117410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КОНТРОЛИРУЕМАЯ ОЦЕНКА</a:t>
            </a:r>
          </a:p>
        </p:txBody>
      </p:sp>
      <p:sp>
        <p:nvSpPr>
          <p:cNvPr id="87614791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600513275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16610260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1605881807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04</a:t>
            </a:r>
          </a:p>
        </p:txBody>
      </p:sp>
      <p:sp>
        <p:nvSpPr>
          <p:cNvPr id="1931174102" name="TextBox 1931174101"/>
          <p:cNvSpPr txBox="1"/>
          <p:nvPr/>
        </p:nvSpPr>
        <p:spPr>
          <a:xfrm>
            <a:off x="346075" y="642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Montserrat"/>
              </a:rPr>
              <a:t>Серверная детерминированная проверка без LLM. Психометрическая калибровка не проводилась; новые банки не проходили экспертную проверку.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773006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4891922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87273526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68431704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19224751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>
              <a:defRPr/>
            </a:pPr>
            <a:r>
              <a:rPr lang="ru-RU" sz="1800">
                <a:solidFill>
                  <a:srgbClr val="F92571"/>
                </a:solidFill>
              </a:rPr>
              <a:t>Резюме не подтверждает</a:t>
            </a:r>
          </a:p>
        </p:txBody>
      </p:sp>
      <p:sp>
        <p:nvSpPr>
          <p:cNvPr id="20571207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Стек и места работы — со слов. Практическая компетентность не проверена, отбор сводится к совпадению ключевых слов.</a:t>
            </a:r>
          </a:p>
        </p:txBody>
      </p:sp>
      <p:sp>
        <p:nvSpPr>
          <p:cNvPr id="1401194466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>
              <a:defRPr/>
            </a:pPr>
            <a:r>
              <a:rPr lang="ru-RU" sz="1800">
                <a:solidFill>
                  <a:srgbClr val="F92571"/>
                </a:solidFill>
              </a:rPr>
              <a:t>Проверка дорога</a:t>
            </a:r>
          </a:p>
        </p:txBody>
      </p:sp>
      <p:sp>
        <p:nvSpPr>
          <p:cNvPr id="664606468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Работодатель вручную фильтрует сотни нерелевантных откликов силами дорогих технических специалистов.</a:t>
            </a:r>
          </a:p>
        </p:txBody>
      </p:sp>
      <p:sp>
        <p:nvSpPr>
          <p:cNvPr id="1794300911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>
              <a:defRPr/>
            </a:pPr>
            <a:r>
              <a:rPr lang="ru-RU" sz="1800">
                <a:solidFill>
                  <a:srgbClr val="F92571"/>
                </a:solidFill>
              </a:rPr>
              <a:t>Кандидат — вслепую</a:t>
            </a:r>
          </a:p>
        </p:txBody>
      </p:sp>
      <p:sp>
        <p:nvSpPr>
          <p:cNvPr id="687228354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chemeClr val="tx1"/>
                </a:solidFill>
              </a:rPr>
              <a:t>Отклик без обратной связи; стек, грейд и формат работы на универсальных площадках не формализованы.</a:t>
            </a:r>
          </a:p>
        </p:txBody>
      </p:sp>
      <p:sp>
        <p:nvSpPr>
          <p:cNvPr id="81001752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4A0D67"/>
                </a:solidFill>
              </a:rPr>
              <a:t>БОЛЬ РЫНКА: РЕЗЮМЕ — ДЕКЛАРАЦИЯ</a:t>
            </a:r>
          </a:p>
        </p:txBody>
      </p:sp>
      <p:sp>
        <p:nvSpPr>
          <p:cNvPr id="187796772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r>
              <a:rPr lang="ru-RU" sz="4400"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774037230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r>
              <a:rPr lang="ru-RU" sz="4400"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76797421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r>
              <a:rPr lang="ru-RU" sz="4400" b="1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2057120714" name="TextBox 2057120713"/>
          <p:cNvSpPr txBox="1"/>
          <p:nvPr/>
        </p:nvSpPr>
        <p:spPr>
          <a:xfrm>
            <a:off x="346075" y="642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7B"/>
                </a:solidFill>
                <a:latin typeface="Montserrat"/>
              </a:rPr>
              <a:t>Источник: ТЗ спецтрека ФСП, раздел 1 «Контекст и актуальность задачи»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053445" name="Скругленный прямоугольник 22"/>
          <p:cNvSpPr/>
          <p:nvPr/>
        </p:nvSpPr>
        <p:spPr bwMode="auto">
          <a:xfrm>
            <a:off x="346075" y="324562"/>
            <a:ext cx="356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346738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737596317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rgbClr val="F92571"/>
                </a:solidFill>
              </a:rPr>
              <a:t>React + TypeScript</a:t>
            </a:r>
          </a:p>
        </p:txBody>
      </p:sp>
      <p:sp>
        <p:nvSpPr>
          <p:cNvPr id="1546089490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Кабинеты кандидата и работодателя; Vite, nginx</a:t>
            </a:r>
          </a:p>
        </p:txBody>
      </p:sp>
      <p:sp>
        <p:nvSpPr>
          <p:cNvPr id="396525816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rgbClr val="F92571"/>
                </a:solidFill>
              </a:rPr>
              <a:t>FastAPI</a:t>
            </a:r>
          </a:p>
        </p:txBody>
      </p:sp>
      <p:sp>
        <p:nvSpPr>
          <p:cNvPr id="77012886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Модульный монолит, защищённый API, роли на сервере</a:t>
            </a:r>
          </a:p>
        </p:txBody>
      </p:sp>
      <p:sp>
        <p:nvSpPr>
          <p:cNvPr id="2060661877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rgbClr val="F92571"/>
                </a:solidFill>
              </a:rPr>
              <a:t>PostgreSQL + Alembic</a:t>
            </a:r>
          </a:p>
        </p:txBody>
      </p:sp>
      <p:sp>
        <p:nvSpPr>
          <p:cNvPr id="174096017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Миграции 0001–0011; данные и доказательства в БД</a:t>
            </a:r>
          </a:p>
        </p:txBody>
      </p:sp>
      <p:sp>
        <p:nvSpPr>
          <p:cNvPr id="203768089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rgbClr val="F92571"/>
                </a:solidFill>
              </a:rPr>
              <a:t>Docker Compose</a:t>
            </a:r>
          </a:p>
        </p:txBody>
      </p:sp>
      <p:sp>
        <p:nvSpPr>
          <p:cNvPr id="998238409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Три сервиса: db, backend, frontend; рабочий стенд</a:t>
            </a:r>
          </a:p>
        </p:txBody>
      </p:sp>
      <p:sp>
        <p:nvSpPr>
          <p:cNvPr id="379257575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rgbClr val="F92571"/>
                </a:solidFill>
              </a:rPr>
              <a:t>Python Practice</a:t>
            </a:r>
          </a:p>
        </p:txBody>
      </p:sp>
      <p:sp>
        <p:nvSpPr>
          <p:cNvPr id="1483029940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Pyodide 0.27.7 в браузере; самопроверка, не сертификация и не влияет на грейд</a:t>
            </a:r>
          </a:p>
        </p:txBody>
      </p:sp>
      <p:sp>
        <p:nvSpPr>
          <p:cNvPr id="144766493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 lang="ru-RU" sz="1500">
                <a:solidFill>
                  <a:srgbClr val="F92571"/>
                </a:solidFill>
              </a:rPr>
              <a:t>Без чёрного ящика</a:t>
            </a:r>
          </a:p>
        </p:txBody>
      </p:sp>
      <p:sp>
        <p:nvSpPr>
          <p:cNvPr id="1048009831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Нет LLM в оценке и подборе; правила и пороги в коде</a:t>
            </a:r>
          </a:p>
        </p:txBody>
      </p:sp>
      <p:sp>
        <p:nvSpPr>
          <p:cNvPr id="100729038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АРХИТЕКТУРА MVP</a:t>
            </a:r>
          </a:p>
        </p:txBody>
      </p:sp>
      <p:sp>
        <p:nvSpPr>
          <p:cNvPr id="270075877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733445527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686089529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358655471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04</a:t>
            </a:r>
          </a:p>
        </p:txBody>
      </p:sp>
      <p:sp>
        <p:nvSpPr>
          <p:cNvPr id="838841846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05</a:t>
            </a:r>
          </a:p>
        </p:txBody>
      </p:sp>
      <p:sp>
        <p:nvSpPr>
          <p:cNvPr id="1993624460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06</a:t>
            </a:r>
          </a:p>
        </p:txBody>
      </p:sp>
      <p:sp>
        <p:nvSpPr>
          <p:cNvPr id="2060661878" name="TextBox 2060661877"/>
          <p:cNvSpPr txBox="1"/>
          <p:nvPr/>
        </p:nvSpPr>
        <p:spPr>
          <a:xfrm>
            <a:off x="346075" y="642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7B"/>
                </a:solidFill>
                <a:latin typeface="Montserrat"/>
              </a:rPr>
              <a:t>Не заявляем: нагрузку (RPS), клиентов и результаты найма — их нет. Только Backend/Python реализован полностью.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685371" name="Скругленный прямоугольник 1"/>
          <p:cNvSpPr/>
          <p:nvPr/>
        </p:nvSpPr>
        <p:spPr bwMode="auto">
          <a:xfrm>
            <a:off x="346075" y="324562"/>
            <a:ext cx="436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84940063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74654127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763082939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66649712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1314369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50387119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83921218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Skill Claim — заявка кандидата</a:t>
            </a:r>
          </a:p>
        </p:txBody>
      </p:sp>
      <p:sp>
        <p:nvSpPr>
          <p:cNvPr id="503502982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Evidence — свидетельство: оценка, опыт, ФСП</a:t>
            </a:r>
          </a:p>
        </p:txBody>
      </p:sp>
      <p:sp>
        <p:nvSpPr>
          <p:cNvPr id="1914064522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Verified Skill Level — подтверждённый уровень</a:t>
            </a:r>
          </a:p>
        </p:txBody>
      </p:sp>
      <p:sp>
        <p:nvSpPr>
          <p:cNvPr id="2079957513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Заявленный опыт ≠ подтверждённый навык</a:t>
            </a:r>
          </a:p>
        </p:txBody>
      </p:sp>
      <p:sp>
        <p:nvSpPr>
          <p:cNvPr id="8479638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История ФСП — только mock-адаптер</a:t>
            </a:r>
          </a:p>
        </p:txBody>
      </p:sp>
      <p:sp>
        <p:nvSpPr>
          <p:cNvPr id="482100266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10152552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ПРОФИЛЬ КОМПЕТЕНЦИЙ</a:t>
            </a:r>
          </a:p>
        </p:txBody>
      </p:sp>
      <p:pic>
        <p:nvPicPr>
          <p:cNvPr id="2101525530" name="Picture 2101525529" descr="c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00" y="1520000"/>
            <a:ext cx="5020000" cy="3273007"/>
          </a:xfrm>
          <a:prstGeom prst="rect">
            <a:avLst/>
          </a:prstGeom>
        </p:spPr>
      </p:pic>
      <p:sp>
        <p:nvSpPr>
          <p:cNvPr id="2101525531" name="TextBox 2101525530"/>
          <p:cNvSpPr txBox="1"/>
          <p:nvPr/>
        </p:nvSpPr>
        <p:spPr>
          <a:xfrm>
            <a:off x="560000" y="5330000"/>
            <a:ext cx="50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7B"/>
                </a:solidFill>
                <a:latin typeface="Montserrat"/>
              </a:rPr>
              <a:t>Скриншот стенда (демо-кандидат, синтетические данные)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658643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89114119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32736300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8728962" name="Скругленный прямоугольник 1"/>
          <p:cNvSpPr/>
          <p:nvPr/>
        </p:nvSpPr>
        <p:spPr bwMode="auto">
          <a:xfrm>
            <a:off x="346075" y="324562"/>
            <a:ext cx="236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38401725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21</a:t>
            </a:fld>
            <a:endParaRPr lang="ru-RU"/>
          </a:p>
        </p:txBody>
      </p:sp>
      <p:sp>
        <p:nvSpPr>
          <p:cNvPr id="2015093292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sz="1800">
                <a:solidFill>
                  <a:schemeClr val="tx1"/>
                </a:solidFill>
              </a:rPr>
              <a:t>P@5: 0,780 против 0,260</a:t>
            </a:r>
          </a:p>
        </p:txBody>
      </p:sp>
      <p:sp>
        <p:nvSpPr>
          <p:cNvPr id="1394386905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/>
          <a:lstStyle/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Evidence matching против keyword baseline</a:t>
            </a:r>
          </a:p>
        </p:txBody>
      </p:sp>
      <p:sp>
        <p:nvSpPr>
          <p:cNvPr id="1377723777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sz="1800">
                <a:solidFill>
                  <a:schemeClr val="tx1"/>
                </a:solidFill>
              </a:rPr>
              <a:t>nDCG@10: 0,973</a:t>
            </a:r>
          </a:p>
        </p:txBody>
      </p:sp>
      <p:sp>
        <p:nvSpPr>
          <p:cNvPr id="1772514563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/>
          <a:lstStyle/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Hard filters only — 0,841; keyword baseline — 0,395</a:t>
            </a:r>
          </a:p>
        </p:txBody>
      </p:sp>
      <p:sp>
        <p:nvSpPr>
          <p:cNvPr id="1159080336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sz="1500">
                <a:solidFill>
                  <a:schemeClr val="tx1"/>
                </a:solidFill>
              </a:rPr>
              <a:t>320 пар, 98 с ненулевой разметкой</a:t>
            </a:r>
          </a:p>
        </p:txBody>
      </p:sp>
      <p:sp>
        <p:nvSpPr>
          <p:cNvPr id="1374907426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/>
          <a:lstStyle/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32 кандидата × 10 потребностей; собственный синтетический датасет v1 (матчинг, не оценка заданий)</a:t>
            </a:r>
          </a:p>
        </p:txBody>
      </p:sp>
      <p:graphicFrame>
        <p:nvGraphicFramePr>
          <p:cNvPr id="1868497471" name="Диаграмма 9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4516223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763648" cy="376138"/>
          </a:xfrm>
        </p:spPr>
        <p:txBody>
          <a:bodyPr/>
          <a:lstStyle/>
          <a:p>
            <a:pPr>
              <a:defRPr/>
            </a:pPr>
            <a:r>
              <a:rPr lang="ru-RU"/>
              <a:t>ВАЛИДАЦИЯ</a:t>
            </a:r>
          </a:p>
        </p:txBody>
      </p:sp>
      <p:sp>
        <p:nvSpPr>
          <p:cNvPr id="2015093293" name="TextBox 2015093292"/>
          <p:cNvSpPr txBox="1"/>
          <p:nvPr/>
        </p:nvSpPr>
        <p:spPr>
          <a:xfrm>
            <a:off x="346075" y="5880000"/>
            <a:ext cx="575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ontserrat"/>
              </a:rPr>
              <a:t>Синтетическая внутренняя проверка; не доказательство реального качества найма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47747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25564488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07344064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33656173" name="Скругленный прямоугольник 1"/>
          <p:cNvSpPr/>
          <p:nvPr/>
        </p:nvSpPr>
        <p:spPr bwMode="auto">
          <a:xfrm>
            <a:off x="346075" y="324562"/>
            <a:ext cx="416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20418890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88566360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16374289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669438687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1" sz="1700">
                <a:solidFill>
                  <a:schemeClr val="tx1"/>
                </a:solidFill>
              </a:rPr>
              <a:t>Кандидат подтверждает навыки</a:t>
            </a:r>
          </a:p>
          <a:p>
            <a:pPr>
              <a:defRPr/>
            </a:pPr>
            <a:r>
              <a:rPr lang="ru-RU" sz="1700">
                <a:solidFill>
                  <a:schemeClr val="tx1"/>
                </a:solidFill>
              </a:rPr>
              <a:t>Обязательная оценка при регистрации: заявленный грейд проверяется заданиями, а не словами.</a:t>
            </a:r>
          </a:p>
        </p:txBody>
      </p:sp>
      <p:sp>
        <p:nvSpPr>
          <p:cNvPr id="1706685189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1" sz="1700">
                <a:solidFill>
                  <a:schemeClr val="tx1"/>
                </a:solidFill>
              </a:rPr>
              <a:t>Работодатель видит доказательства</a:t>
            </a:r>
          </a:p>
          <a:p>
            <a:pPr>
              <a:defRPr/>
            </a:pPr>
            <a:r>
              <a:rPr lang="ru-RU" sz="1700">
                <a:solidFill>
                  <a:schemeClr val="tx1"/>
                </a:solidFill>
              </a:rPr>
              <a:t>Короткий список с Requirement Fit, причинами «почему подходит» и пробелами GAPS.</a:t>
            </a:r>
          </a:p>
        </p:txBody>
      </p:sp>
      <p:sp>
        <p:nvSpPr>
          <p:cNvPr id="1541506105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1" sz="1700">
                <a:solidFill>
                  <a:schemeClr val="tx1"/>
                </a:solidFill>
              </a:rPr>
              <a:t>Предложение — с зарплатой</a:t>
            </a:r>
          </a:p>
          <a:p>
            <a:pPr>
              <a:defRPr/>
            </a:pPr>
            <a:r>
              <a:rPr lang="ru-RU" sz="1700">
                <a:solidFill>
                  <a:schemeClr val="tx1"/>
                </a:solidFill>
              </a:rPr>
              <a:t>Адресное приглашение с обязательной вилкой GROSS/NET. Контакты — только после ACCEPT.</a:t>
            </a:r>
          </a:p>
        </p:txBody>
      </p:sp>
      <p:cxnSp>
        <p:nvCxnSpPr>
          <p:cNvPr id="1486152338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3183895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fill="norm" stroke="1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fill="norm" stroke="1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fill="norm" stroke="1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fill="norm" stroke="1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fill="norm" stroke="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fill="norm" stroke="1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fill="norm" stroke="1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fill="norm" stroke="1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fill="norm" stroke="1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725035388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fill="norm" stroke="1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fill="norm" stroke="1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fill="norm" stroke="1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fill="norm" stroke="1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fill="norm" stroke="1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fill="norm" stroke="1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fill="norm" stroke="1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474408562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fill="norm" stroke="1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fill="norm" stroke="1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fill="norm" stroke="1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fill="norm" stroke="1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fill="norm" stroke="1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fill="norm" stroke="1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fill="norm" stroke="1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fill="norm" stroke="1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670171793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9505343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REVERSE RECRUITING</a:t>
            </a:r>
          </a:p>
        </p:txBody>
      </p:sp>
      <p:cxnSp>
        <p:nvCxnSpPr>
          <p:cNvPr id="1616938405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570548" name="Скругленный прямоугольник 11"/>
          <p:cNvSpPr/>
          <p:nvPr/>
        </p:nvSpPr>
        <p:spPr bwMode="auto">
          <a:xfrm>
            <a:off x="346075" y="324562"/>
            <a:ext cx="336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88125087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441455779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sz="1500">
                <a:solidFill>
                  <a:schemeClr val="accent5"/>
                </a:solidFill>
              </a:rPr>
              <a:t>Регистрация</a:t>
            </a:r>
          </a:p>
        </p:txBody>
      </p:sp>
      <p:sp>
        <p:nvSpPr>
          <p:cNvPr id="2088651644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Специализация и заявленный грейд</a:t>
            </a:r>
          </a:p>
        </p:txBody>
      </p:sp>
      <p:sp>
        <p:nvSpPr>
          <p:cNvPr id="819791908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sz="1500">
                <a:solidFill>
                  <a:schemeClr val="accent5"/>
                </a:solidFill>
              </a:rPr>
              <a:t>Результат</a:t>
            </a:r>
          </a:p>
        </p:txBody>
      </p:sp>
      <p:sp>
        <p:nvSpPr>
          <p:cNvPr id="1933606607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Подтверждённый или неподтверждённый уровень J1–S3</a:t>
            </a:r>
          </a:p>
        </p:txBody>
      </p:sp>
      <p:sp>
        <p:nvSpPr>
          <p:cNvPr id="4558188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sz="1500">
                <a:solidFill>
                  <a:schemeClr val="accent5"/>
                </a:solidFill>
              </a:rPr>
              <a:t>Приглашение</a:t>
            </a:r>
          </a:p>
        </p:txBody>
      </p:sp>
      <p:sp>
        <p:nvSpPr>
          <p:cNvPr id="139047839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Принять или отклонить; контакты — после ACCEPT</a:t>
            </a:r>
          </a:p>
        </p:txBody>
      </p:sp>
      <p:sp>
        <p:nvSpPr>
          <p:cNvPr id="1476153690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sz="1500">
                <a:solidFill>
                  <a:schemeClr val="accent5"/>
                </a:solidFill>
              </a:rPr>
              <a:t>Core Assessment</a:t>
            </a:r>
          </a:p>
        </p:txBody>
      </p:sp>
      <p:sp>
        <p:nvSpPr>
          <p:cNvPr id="1928007053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17 заданий, свой вариант у каждого</a:t>
            </a:r>
          </a:p>
        </p:txBody>
      </p:sp>
      <p:sp>
        <p:nvSpPr>
          <p:cNvPr id="233218282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sz="1500">
                <a:solidFill>
                  <a:schemeClr val="accent5"/>
                </a:solidFill>
              </a:rPr>
              <a:t>Профиль навыков</a:t>
            </a:r>
          </a:p>
        </p:txBody>
      </p:sp>
      <p:sp>
        <p:nvSpPr>
          <p:cNvPr id="1737293978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Заявка → свидетельство → подтверждённый уровень</a:t>
            </a:r>
          </a:p>
        </p:txBody>
      </p:sp>
      <p:cxnSp>
        <p:nvCxnSpPr>
          <p:cNvPr id="19766659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262990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700918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917011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184224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3283170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6668427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8125646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852911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1017425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1152914829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824132433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1831962494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730668161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2216276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ПУТЬ КАНДИДАТА</a:t>
            </a:r>
          </a:p>
        </p:txBody>
      </p:sp>
      <p:sp>
        <p:nvSpPr>
          <p:cNvPr id="455642771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681624759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592131962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634692273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832176749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372586" name="Скругленный прямоугольник 1"/>
          <p:cNvSpPr/>
          <p:nvPr/>
        </p:nvSpPr>
        <p:spPr bwMode="auto">
          <a:xfrm>
            <a:off x="346075" y="324562"/>
            <a:ext cx="356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1895692857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8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fsp.tradefon.ru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/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/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1497458725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8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fsp.tradefon.ru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/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/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891476867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84228396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 sz="1400">
                <a:solidFill>
                  <a:schemeClr val="tx1"/>
                </a:solidFill>
              </a:rPr>
              <a:t>Работодатель: вилка обязательна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Сервер не примет приглашение без зарплаты и типа GROSS/NET.</a:t>
            </a:r>
          </a:p>
        </p:txBody>
      </p:sp>
      <p:sp>
        <p:nvSpPr>
          <p:cNvPr id="1479158388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 sz="1400">
                <a:solidFill>
                  <a:schemeClr val="tx1"/>
                </a:solidFill>
              </a:rPr>
              <a:t>Кандидат решает: ACCEPT / DECLINE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Контакты открываются только после принятия. Отклонил — остаются скрытыми.</a:t>
            </a:r>
          </a:p>
        </p:txBody>
      </p:sp>
      <p:pic>
        <p:nvPicPr>
          <p:cNvPr id="8368533" name="Рисунок 4" descr="c_form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488" b="488"/>
          <a:stretch>
            <a:fillRect/>
          </a:stretch>
        </p:blipFill>
        <p:spPr/>
      </p:pic>
      <p:pic>
        <p:nvPicPr>
          <p:cNvPr id="1292655813" name="Рисунок 5" descr="c_inv2.png"/>
          <p:cNvPicPr>
            <a:picLocks noGrp="1" noChangeAspect="1"/>
          </p:cNvPicPr>
          <p:nvPr>
            <p:ph type="pic" sz="quarter" idx="18"/>
          </p:nvPr>
        </p:nvPicPr>
        <p:blipFill>
          <a:blip r:embed="rId5"/>
          <a:srcRect l="538" r="538"/>
          <a:stretch>
            <a:fillRect/>
          </a:stretch>
        </p:blipFill>
        <p:spPr/>
      </p:pic>
      <p:sp>
        <p:nvSpPr>
          <p:cNvPr id="156835409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МОМЕНТ ЦЕННОСТИ</a:t>
            </a:r>
          </a:p>
        </p:txBody>
      </p:sp>
      <p:sp>
        <p:nvSpPr>
          <p:cNvPr id="1895692858" name="TextBox 1895692857"/>
          <p:cNvSpPr txBox="1"/>
          <p:nvPr/>
        </p:nvSpPr>
        <p:spPr>
          <a:xfrm>
            <a:off x="346075" y="642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7B"/>
                </a:solidFill>
                <a:latin typeface="Montserrat"/>
              </a:rPr>
              <a:t>Скриншоты стенда; контакты на экране — вымышленные демо-данные (demo.example).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98</cp:revision>
  <dcterms:created xsi:type="dcterms:W3CDTF">2023-05-15T07:36:23Z</dcterms:created>
  <dcterms:modified xsi:type="dcterms:W3CDTF">2026-10-04T21:04:42Z</dcterms:modified>
</cp:coreProperties>
</file>